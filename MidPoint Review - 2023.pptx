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28"/>
  </p:notesMasterIdLst>
  <p:handoutMasterIdLst>
    <p:handoutMasterId r:id="rId29"/>
  </p:handoutMasterIdLst>
  <p:sldIdLst>
    <p:sldId id="766" r:id="rId5"/>
    <p:sldId id="765" r:id="rId6"/>
    <p:sldId id="704" r:id="rId7"/>
    <p:sldId id="675" r:id="rId8"/>
    <p:sldId id="780" r:id="rId9"/>
    <p:sldId id="847" r:id="rId10"/>
    <p:sldId id="850" r:id="rId11"/>
    <p:sldId id="537" r:id="rId12"/>
    <p:sldId id="535" r:id="rId13"/>
    <p:sldId id="808" r:id="rId14"/>
    <p:sldId id="801" r:id="rId15"/>
    <p:sldId id="802" r:id="rId16"/>
    <p:sldId id="803" r:id="rId17"/>
    <p:sldId id="572" r:id="rId18"/>
    <p:sldId id="805" r:id="rId19"/>
    <p:sldId id="573" r:id="rId20"/>
    <p:sldId id="536" r:id="rId21"/>
    <p:sldId id="674" r:id="rId22"/>
    <p:sldId id="873" r:id="rId23"/>
    <p:sldId id="872" r:id="rId24"/>
    <p:sldId id="874" r:id="rId25"/>
    <p:sldId id="779" r:id="rId26"/>
    <p:sldId id="552" r:id="rId27"/>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3"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59D50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53" autoAdjust="0"/>
    <p:restoredTop sz="96586" autoAdjust="0"/>
  </p:normalViewPr>
  <p:slideViewPr>
    <p:cSldViewPr>
      <p:cViewPr varScale="1">
        <p:scale>
          <a:sx n="109" d="100"/>
          <a:sy n="109" d="100"/>
        </p:scale>
        <p:origin x="1632" y="108"/>
      </p:cViewPr>
      <p:guideLst>
        <p:guide orient="horz" pos="2160"/>
        <p:guide pos="2880"/>
      </p:guideLst>
    </p:cSldViewPr>
  </p:slideViewPr>
  <p:outlineViewPr>
    <p:cViewPr>
      <p:scale>
        <a:sx n="33" d="100"/>
        <a:sy n="33" d="100"/>
      </p:scale>
      <p:origin x="0" y="-3708"/>
    </p:cViewPr>
  </p:outlineViewPr>
  <p:notesTextViewPr>
    <p:cViewPr>
      <p:scale>
        <a:sx n="3" d="2"/>
        <a:sy n="3" d="2"/>
      </p:scale>
      <p:origin x="0" y="0"/>
    </p:cViewPr>
  </p:notesTextViewPr>
  <p:sorterViewPr>
    <p:cViewPr varScale="1">
      <p:scale>
        <a:sx n="1" d="1"/>
        <a:sy n="1" d="1"/>
      </p:scale>
      <p:origin x="0" y="0"/>
    </p:cViewPr>
  </p:sorterViewPr>
  <p:notesViewPr>
    <p:cSldViewPr>
      <p:cViewPr varScale="1">
        <p:scale>
          <a:sx n="90" d="100"/>
          <a:sy n="90" d="100"/>
        </p:scale>
        <p:origin x="3732" y="78"/>
      </p:cViewPr>
      <p:guideLst>
        <p:guide orient="horz" pos="3024"/>
        <p:guide pos="2303"/>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169920" cy="480060"/>
          </a:xfrm>
          <a:prstGeom prst="rect">
            <a:avLst/>
          </a:prstGeom>
        </p:spPr>
        <p:txBody>
          <a:bodyPr vert="horz" lIns="96653" tIns="48327" rIns="96653" bIns="48327" rtlCol="0"/>
          <a:lstStyle>
            <a:lvl1pPr algn="l">
              <a:defRPr sz="1200"/>
            </a:lvl1pPr>
          </a:lstStyle>
          <a:p>
            <a:endParaRPr lang="en-US"/>
          </a:p>
        </p:txBody>
      </p:sp>
      <p:sp>
        <p:nvSpPr>
          <p:cNvPr id="3" name="Date Placeholder 2"/>
          <p:cNvSpPr>
            <a:spLocks noGrp="1"/>
          </p:cNvSpPr>
          <p:nvPr>
            <p:ph type="dt" sz="quarter" idx="1"/>
          </p:nvPr>
        </p:nvSpPr>
        <p:spPr>
          <a:xfrm>
            <a:off x="4143590" y="0"/>
            <a:ext cx="3169920" cy="480060"/>
          </a:xfrm>
          <a:prstGeom prst="rect">
            <a:avLst/>
          </a:prstGeom>
        </p:spPr>
        <p:txBody>
          <a:bodyPr vert="horz" lIns="96653" tIns="48327" rIns="96653" bIns="48327" rtlCol="0"/>
          <a:lstStyle>
            <a:lvl1pPr algn="r">
              <a:defRPr sz="1200"/>
            </a:lvl1pPr>
          </a:lstStyle>
          <a:p>
            <a:fld id="{1815985C-0EDE-4660-B507-7C81FCB1DFC0}" type="datetimeFigureOut">
              <a:rPr lang="en-US" smtClean="0"/>
              <a:pPr/>
              <a:t>3/11/2022</a:t>
            </a:fld>
            <a:endParaRPr lang="en-US"/>
          </a:p>
        </p:txBody>
      </p:sp>
      <p:sp>
        <p:nvSpPr>
          <p:cNvPr id="4" name="Footer Placeholder 3"/>
          <p:cNvSpPr>
            <a:spLocks noGrp="1"/>
          </p:cNvSpPr>
          <p:nvPr>
            <p:ph type="ftr" sz="quarter" idx="2"/>
          </p:nvPr>
        </p:nvSpPr>
        <p:spPr>
          <a:xfrm>
            <a:off x="2" y="9119474"/>
            <a:ext cx="3169920" cy="480060"/>
          </a:xfrm>
          <a:prstGeom prst="rect">
            <a:avLst/>
          </a:prstGeom>
        </p:spPr>
        <p:txBody>
          <a:bodyPr vert="horz" lIns="96653" tIns="48327" rIns="96653" bIns="48327" rtlCol="0" anchor="b"/>
          <a:lstStyle>
            <a:lvl1pPr algn="l">
              <a:defRPr sz="1200"/>
            </a:lvl1pPr>
          </a:lstStyle>
          <a:p>
            <a:endParaRPr lang="en-US"/>
          </a:p>
        </p:txBody>
      </p:sp>
      <p:sp>
        <p:nvSpPr>
          <p:cNvPr id="5" name="Slide Number Placeholder 4"/>
          <p:cNvSpPr>
            <a:spLocks noGrp="1"/>
          </p:cNvSpPr>
          <p:nvPr>
            <p:ph type="sldNum" sz="quarter" idx="3"/>
          </p:nvPr>
        </p:nvSpPr>
        <p:spPr>
          <a:xfrm>
            <a:off x="4143590" y="9119474"/>
            <a:ext cx="3169920" cy="480060"/>
          </a:xfrm>
          <a:prstGeom prst="rect">
            <a:avLst/>
          </a:prstGeom>
        </p:spPr>
        <p:txBody>
          <a:bodyPr vert="horz" lIns="96653" tIns="48327" rIns="96653" bIns="48327" rtlCol="0" anchor="b"/>
          <a:lstStyle>
            <a:lvl1pPr algn="r">
              <a:defRPr sz="1200"/>
            </a:lvl1pPr>
          </a:lstStyle>
          <a:p>
            <a:fld id="{8D922405-F711-45E4-A541-DCA5998A85A5}" type="slidenum">
              <a:rPr lang="en-US" smtClean="0"/>
              <a:pPr/>
              <a:t>‹#›</a:t>
            </a:fld>
            <a:endParaRPr lang="en-US"/>
          </a:p>
        </p:txBody>
      </p:sp>
    </p:spTree>
    <p:extLst>
      <p:ext uri="{BB962C8B-B14F-4D97-AF65-F5344CB8AC3E}">
        <p14:creationId xmlns:p14="http://schemas.microsoft.com/office/powerpoint/2010/main" val="150162050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 name="Notes Placeholder 14"/>
          <p:cNvSpPr>
            <a:spLocks noGrp="1"/>
          </p:cNvSpPr>
          <p:nvPr>
            <p:ph type="body" sz="quarter" idx="3"/>
          </p:nvPr>
        </p:nvSpPr>
        <p:spPr>
          <a:xfrm>
            <a:off x="732183" y="4620250"/>
            <a:ext cx="5850835" cy="3780800"/>
          </a:xfrm>
          <a:prstGeom prst="rect">
            <a:avLst/>
          </a:prstGeom>
        </p:spPr>
        <p:txBody>
          <a:bodyPr vert="horz" lIns="94851" tIns="47425" rIns="94851" bIns="47425"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6" name="Slide Image Placeholder 15"/>
          <p:cNvSpPr>
            <a:spLocks noGrp="1" noRot="1" noChangeAspect="1"/>
          </p:cNvSpPr>
          <p:nvPr>
            <p:ph type="sldImg" idx="2"/>
          </p:nvPr>
        </p:nvSpPr>
        <p:spPr>
          <a:xfrm>
            <a:off x="1497013" y="1200150"/>
            <a:ext cx="4321175" cy="3240088"/>
          </a:xfrm>
          <a:prstGeom prst="rect">
            <a:avLst/>
          </a:prstGeom>
          <a:noFill/>
          <a:ln w="12700">
            <a:solidFill>
              <a:prstClr val="black"/>
            </a:solidFill>
          </a:ln>
        </p:spPr>
        <p:txBody>
          <a:bodyPr vert="horz" lIns="94851" tIns="47425" rIns="94851" bIns="47425" rtlCol="0" anchor="ctr"/>
          <a:lstStyle/>
          <a:p>
            <a:endParaRPr lang="en-US"/>
          </a:p>
        </p:txBody>
      </p:sp>
      <p:sp>
        <p:nvSpPr>
          <p:cNvPr id="19" name="Slide Number Placeholder 18"/>
          <p:cNvSpPr>
            <a:spLocks noGrp="1"/>
          </p:cNvSpPr>
          <p:nvPr>
            <p:ph type="sldNum" sz="quarter" idx="5"/>
          </p:nvPr>
        </p:nvSpPr>
        <p:spPr>
          <a:xfrm>
            <a:off x="4142962" y="9119173"/>
            <a:ext cx="3170583" cy="482027"/>
          </a:xfrm>
          <a:prstGeom prst="rect">
            <a:avLst/>
          </a:prstGeom>
        </p:spPr>
        <p:txBody>
          <a:bodyPr vert="horz" lIns="94851" tIns="47425" rIns="94851" bIns="47425" rtlCol="0" anchor="b"/>
          <a:lstStyle>
            <a:lvl1pPr algn="r">
              <a:defRPr sz="1200"/>
            </a:lvl1pPr>
          </a:lstStyle>
          <a:p>
            <a:fld id="{F0362973-72B6-4AC4-8C3D-DB67EB359549}" type="slidenum">
              <a:rPr lang="en-US" smtClean="0"/>
              <a:t>‹#›</a:t>
            </a:fld>
            <a:endParaRPr lang="en-US"/>
          </a:p>
        </p:txBody>
      </p:sp>
    </p:spTree>
    <p:extLst>
      <p:ext uri="{BB962C8B-B14F-4D97-AF65-F5344CB8AC3E}">
        <p14:creationId xmlns:p14="http://schemas.microsoft.com/office/powerpoint/2010/main" val="266810931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2115679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6407949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1486750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3660815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9083322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105086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7005036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7712318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Notes Placeholder 3"/>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7673018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lide Image Placeholder 1"/>
          <p:cNvSpPr>
            <a:spLocks noGrp="1" noRot="1" noChangeAspect="1" noTextEdit="1"/>
          </p:cNvSpPr>
          <p:nvPr>
            <p:ph type="sldImg"/>
          </p:nvPr>
        </p:nvSpPr>
        <p:spPr>
          <a:xfrm>
            <a:off x="1257300" y="719138"/>
            <a:ext cx="4800600" cy="3600450"/>
          </a:xfrm>
          <a:prstGeom prst="rect">
            <a:avLst/>
          </a:prstGeom>
          <a:ln/>
        </p:spPr>
      </p:sp>
      <p:sp>
        <p:nvSpPr>
          <p:cNvPr id="59394" name="Notes Placeholder 2"/>
          <p:cNvSpPr>
            <a:spLocks noGrp="1"/>
          </p:cNvSpPr>
          <p:nvPr>
            <p:ph type="body" idx="1"/>
          </p:nvPr>
        </p:nvSpPr>
        <p:spPr>
          <a:xfrm>
            <a:off x="731521" y="4560570"/>
            <a:ext cx="5852160" cy="4320540"/>
          </a:xfrm>
          <a:prstGeom prst="rect">
            <a:avLst/>
          </a:prstGeom>
          <a:noFill/>
          <a:ln/>
        </p:spPr>
        <p:txBody>
          <a:bodyPr/>
          <a:lstStyle/>
          <a:p>
            <a:endParaRPr lang="en-US" dirty="0" smtClean="0">
              <a:latin typeface="Arial" charset="0"/>
            </a:endParaRPr>
          </a:p>
        </p:txBody>
      </p:sp>
    </p:spTree>
    <p:extLst>
      <p:ext uri="{BB962C8B-B14F-4D97-AF65-F5344CB8AC3E}">
        <p14:creationId xmlns:p14="http://schemas.microsoft.com/office/powerpoint/2010/main" val="38825428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674428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4937687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7300" y="719138"/>
            <a:ext cx="4800600" cy="3600450"/>
          </a:xfrm>
          <a:prstGeom prst="rect">
            <a:avLst/>
          </a:prstGeom>
        </p:spPr>
      </p:sp>
      <p:sp>
        <p:nvSpPr>
          <p:cNvPr id="4" name="Notes Placeholder 3"/>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8197980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3"/>
          <p:cNvSpPr>
            <a:spLocks noGrp="1" noChangeArrowheads="1"/>
          </p:cNvSpPr>
          <p:nvPr>
            <p:ph type="dt" sz="quarter" idx="1"/>
          </p:nvPr>
        </p:nvSpPr>
        <p:spPr bwMode="auto">
          <a:xfrm>
            <a:off x="4143590" y="0"/>
            <a:ext cx="3169920" cy="480060"/>
          </a:xfrm>
          <a:prstGeom prst="rect">
            <a:avLst/>
          </a:prstGeom>
          <a:ln>
            <a:miter lim="800000"/>
            <a:headEnd/>
            <a:tailEnd/>
          </a:ln>
        </p:spPr>
        <p:txBody>
          <a:bodyPr wrap="square" lIns="94851" tIns="47425" rIns="94851" bIns="47425" numCol="1" anchor="t" anchorCtr="0" compatLnSpc="1">
            <a:prstTxWarp prst="textNoShape">
              <a:avLst/>
            </a:prstTxWarp>
          </a:bodyPr>
          <a:lstStyle/>
          <a:p>
            <a:pPr>
              <a:defRPr/>
            </a:pPr>
            <a:r>
              <a:rPr lang="en-US" dirty="0" smtClean="0"/>
              <a:t>12 Jan 2007</a:t>
            </a:r>
          </a:p>
        </p:txBody>
      </p:sp>
      <p:sp>
        <p:nvSpPr>
          <p:cNvPr id="135172" name="Rectangle 2"/>
          <p:cNvSpPr>
            <a:spLocks noGrp="1" noRot="1" noChangeAspect="1" noChangeArrowheads="1" noTextEdit="1"/>
          </p:cNvSpPr>
          <p:nvPr>
            <p:ph type="sldImg"/>
          </p:nvPr>
        </p:nvSpPr>
        <p:spPr bwMode="auto">
          <a:xfrm>
            <a:off x="1257300" y="719138"/>
            <a:ext cx="4800600" cy="3600450"/>
          </a:xfrm>
          <a:prstGeom prst="rect">
            <a:avLst/>
          </a:prstGeom>
          <a:noFill/>
          <a:ln>
            <a:solidFill>
              <a:srgbClr val="000000"/>
            </a:solidFill>
            <a:miter lim="800000"/>
            <a:headEnd/>
            <a:tailEnd/>
          </a:ln>
        </p:spPr>
      </p:sp>
      <p:sp>
        <p:nvSpPr>
          <p:cNvPr id="135173" name="Rectangle 3"/>
          <p:cNvSpPr>
            <a:spLocks noGrp="1" noChangeArrowheads="1"/>
          </p:cNvSpPr>
          <p:nvPr>
            <p:ph type="body" idx="1"/>
          </p:nvPr>
        </p:nvSpPr>
        <p:spPr bwMode="auto">
          <a:xfrm>
            <a:off x="731521" y="4560570"/>
            <a:ext cx="5852160" cy="4320540"/>
          </a:xfrm>
          <a:prstGeom prst="rect">
            <a:avLst/>
          </a:prstGeom>
          <a:noFill/>
        </p:spPr>
        <p:txBody>
          <a:bodyPr wrap="square" numCol="1" anchor="t" anchorCtr="0" compatLnSpc="1">
            <a:prstTxWarp prst="textNoShape">
              <a:avLst/>
            </a:prstTxWarp>
          </a:bodyPr>
          <a:lstStyle/>
          <a:p>
            <a:pPr eaLnBrk="1" hangingPunct="1">
              <a:spcBef>
                <a:spcPct val="0"/>
              </a:spcBef>
            </a:pPr>
            <a:endParaRPr lang="en-US" dirty="0" smtClean="0"/>
          </a:p>
        </p:txBody>
      </p:sp>
    </p:spTree>
    <p:extLst>
      <p:ext uri="{BB962C8B-B14F-4D97-AF65-F5344CB8AC3E}">
        <p14:creationId xmlns:p14="http://schemas.microsoft.com/office/powerpoint/2010/main" val="27069450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0779631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2005202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7300" y="719138"/>
            <a:ext cx="4800600" cy="3600450"/>
          </a:xfrm>
          <a:prstGeom prst="rect">
            <a:avLst/>
          </a:prstGeom>
        </p:spPr>
      </p:sp>
      <p:sp>
        <p:nvSpPr>
          <p:cNvPr id="3" name="Notes Placeholder 2"/>
          <p:cNvSpPr>
            <a:spLocks noGrp="1"/>
          </p:cNvSpPr>
          <p:nvPr>
            <p:ph type="body" idx="1"/>
          </p:nvPr>
        </p:nvSpPr>
        <p:spPr>
          <a:xfrm>
            <a:off x="731521" y="4560570"/>
            <a:ext cx="5852160" cy="4320540"/>
          </a:xfrm>
          <a:prstGeom prst="rect">
            <a:avLst/>
          </a:prstGeom>
        </p:spPr>
        <p:txBody>
          <a:bodyPr/>
          <a:lstStyle/>
          <a:p>
            <a:endParaRPr lang="en-US" dirty="0"/>
          </a:p>
        </p:txBody>
      </p:sp>
    </p:spTree>
    <p:extLst>
      <p:ext uri="{BB962C8B-B14F-4D97-AF65-F5344CB8AC3E}">
        <p14:creationId xmlns:p14="http://schemas.microsoft.com/office/powerpoint/2010/main" val="28598059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Notes Placeholder 3"/>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8273114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anose="05000000000000000000" pitchFamily="2" charset="2"/>
              <a:buChar char="§"/>
            </a:pPr>
            <a:endParaRPr lang="en-US" dirty="0"/>
          </a:p>
        </p:txBody>
      </p:sp>
    </p:spTree>
    <p:extLst>
      <p:ext uri="{BB962C8B-B14F-4D97-AF65-F5344CB8AC3E}">
        <p14:creationId xmlns:p14="http://schemas.microsoft.com/office/powerpoint/2010/main" val="9632115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0"/>
          </p:nvPr>
        </p:nvSpPr>
        <p:spPr/>
        <p:txBody>
          <a:bodyPr/>
          <a:lstStyle/>
          <a:p>
            <a:endParaRPr lang="en-US" dirty="0"/>
          </a:p>
        </p:txBody>
      </p:sp>
    </p:spTree>
    <p:extLst>
      <p:ext uri="{BB962C8B-B14F-4D97-AF65-F5344CB8AC3E}">
        <p14:creationId xmlns:p14="http://schemas.microsoft.com/office/powerpoint/2010/main" val="18359760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7385564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3"/>
          <p:cNvSpPr>
            <a:spLocks noGrp="1" noChangeArrowheads="1"/>
          </p:cNvSpPr>
          <p:nvPr>
            <p:ph type="dt" sz="quarter" idx="1"/>
          </p:nvPr>
        </p:nvSpPr>
        <p:spPr bwMode="auto">
          <a:xfrm>
            <a:off x="4143590" y="0"/>
            <a:ext cx="3169920" cy="480060"/>
          </a:xfrm>
          <a:prstGeom prst="rect">
            <a:avLst/>
          </a:prstGeom>
          <a:ln>
            <a:miter lim="800000"/>
            <a:headEnd/>
            <a:tailEnd/>
          </a:ln>
        </p:spPr>
        <p:txBody>
          <a:bodyPr wrap="square" lIns="94851" tIns="47425" rIns="94851" bIns="47425" numCol="1" anchor="t" anchorCtr="0" compatLnSpc="1">
            <a:prstTxWarp prst="textNoShape">
              <a:avLst/>
            </a:prstTxWarp>
          </a:bodyPr>
          <a:lstStyle/>
          <a:p>
            <a:pPr>
              <a:defRPr/>
            </a:pPr>
            <a:r>
              <a:rPr lang="en-US" smtClean="0"/>
              <a:t>12 Jan 2007</a:t>
            </a:r>
          </a:p>
        </p:txBody>
      </p:sp>
      <p:sp>
        <p:nvSpPr>
          <p:cNvPr id="137220" name="Rectangle 2"/>
          <p:cNvSpPr>
            <a:spLocks noGrp="1" noRot="1" noChangeAspect="1" noChangeArrowheads="1" noTextEdit="1"/>
          </p:cNvSpPr>
          <p:nvPr>
            <p:ph type="sldImg"/>
          </p:nvPr>
        </p:nvSpPr>
        <p:spPr bwMode="auto">
          <a:xfrm>
            <a:off x="1257300" y="719138"/>
            <a:ext cx="4800600" cy="3600450"/>
          </a:xfrm>
          <a:prstGeom prst="rect">
            <a:avLst/>
          </a:prstGeom>
          <a:noFill/>
          <a:ln>
            <a:solidFill>
              <a:srgbClr val="000000"/>
            </a:solidFill>
            <a:miter lim="800000"/>
            <a:headEnd/>
            <a:tailEnd/>
          </a:ln>
        </p:spPr>
      </p:sp>
      <p:sp>
        <p:nvSpPr>
          <p:cNvPr id="137221" name="Rectangle 3"/>
          <p:cNvSpPr>
            <a:spLocks noGrp="1" noChangeArrowheads="1"/>
          </p:cNvSpPr>
          <p:nvPr>
            <p:ph type="body" idx="1"/>
          </p:nvPr>
        </p:nvSpPr>
        <p:spPr bwMode="auto">
          <a:xfrm>
            <a:off x="731521" y="4560570"/>
            <a:ext cx="5852160" cy="4320540"/>
          </a:xfrm>
          <a:prstGeom prst="rect">
            <a:avLst/>
          </a:prstGeom>
          <a:noFill/>
        </p:spPr>
        <p:txBody>
          <a:bodyPr wrap="square" numCol="1" anchor="t" anchorCtr="0" compatLnSpc="1">
            <a:prstTxWarp prst="textNoShape">
              <a:avLst/>
            </a:prstTxWarp>
          </a:bodyPr>
          <a:lstStyle/>
          <a:p>
            <a:pPr eaLnBrk="1" hangingPunct="1">
              <a:spcBef>
                <a:spcPct val="0"/>
              </a:spcBef>
            </a:pPr>
            <a:endParaRPr lang="en-US" smtClean="0"/>
          </a:p>
        </p:txBody>
      </p:sp>
    </p:spTree>
    <p:extLst>
      <p:ext uri="{BB962C8B-B14F-4D97-AF65-F5344CB8AC3E}">
        <p14:creationId xmlns:p14="http://schemas.microsoft.com/office/powerpoint/2010/main" val="37078952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7" name="Slide Number Placeholder 6"/>
          <p:cNvSpPr>
            <a:spLocks noGrp="1"/>
          </p:cNvSpPr>
          <p:nvPr>
            <p:ph type="sldNum" sz="quarter" idx="10"/>
          </p:nvPr>
        </p:nvSpPr>
        <p:spPr/>
        <p:txBody>
          <a:bodyPr/>
          <a:lstStyle/>
          <a:p>
            <a:fld id="{6182B678-6FDD-40D4-940F-81891D604945}" type="slidenum">
              <a:rPr lang="en-US" smtClean="0"/>
              <a:pPr/>
              <a:t>‹#›</a:t>
            </a:fld>
            <a:endParaRPr lang="en-US" dirty="0"/>
          </a:p>
        </p:txBody>
      </p:sp>
      <p:sp>
        <p:nvSpPr>
          <p:cNvPr id="9" name="Title 8"/>
          <p:cNvSpPr>
            <a:spLocks noGrp="1"/>
          </p:cNvSpPr>
          <p:nvPr>
            <p:ph type="title"/>
          </p:nvPr>
        </p:nvSpPr>
        <p:spPr>
          <a:xfrm>
            <a:off x="628650" y="365125"/>
            <a:ext cx="7886700" cy="1325563"/>
          </a:xfrm>
          <a:prstGeom prst="rect">
            <a:avLst/>
          </a:prstGeom>
        </p:spPr>
        <p:txBody>
          <a:bodyPr/>
          <a:lstStyle/>
          <a:p>
            <a:r>
              <a:rPr lang="en-US" smtClean="0"/>
              <a:t>Click to edit Master 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Title 6"/>
          <p:cNvSpPr>
            <a:spLocks noGrp="1"/>
          </p:cNvSpPr>
          <p:nvPr>
            <p:ph type="title"/>
          </p:nvPr>
        </p:nvSpPr>
        <p:spPr>
          <a:xfrm>
            <a:off x="628650" y="365125"/>
            <a:ext cx="7886700" cy="1325563"/>
          </a:xfrm>
          <a:prstGeom prst="rect">
            <a:avLst/>
          </a:prstGeom>
        </p:spPr>
        <p:txBody>
          <a:bodyPr/>
          <a:lstStyle/>
          <a:p>
            <a:r>
              <a:rPr lang="en-US" smtClean="0"/>
              <a:t>Click to edit Master title style</a:t>
            </a:r>
            <a:endParaRPr lang="en-US"/>
          </a:p>
        </p:txBody>
      </p:sp>
      <p:sp>
        <p:nvSpPr>
          <p:cNvPr id="8" name="Slide Number Placeholder 7"/>
          <p:cNvSpPr>
            <a:spLocks noGrp="1"/>
          </p:cNvSpPr>
          <p:nvPr>
            <p:ph type="sldNum" sz="quarter" idx="10"/>
          </p:nvPr>
        </p:nvSpPr>
        <p:spPr/>
        <p:txBody>
          <a:bodyPr/>
          <a:lstStyle/>
          <a:p>
            <a:fld id="{6182B678-6FDD-40D4-940F-81891D604945}" type="slidenum">
              <a:rPr lang="en-US" smtClean="0"/>
              <a:pPr/>
              <a:t>‹#›</a:t>
            </a:fld>
            <a:endParaRPr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7" name="Title 6"/>
          <p:cNvSpPr>
            <a:spLocks noGrp="1"/>
          </p:cNvSpPr>
          <p:nvPr>
            <p:ph type="title"/>
          </p:nvPr>
        </p:nvSpPr>
        <p:spPr>
          <a:xfrm>
            <a:off x="628650" y="365125"/>
            <a:ext cx="7886700" cy="1325563"/>
          </a:xfrm>
          <a:prstGeom prst="rect">
            <a:avLst/>
          </a:prstGeom>
        </p:spPr>
        <p:txBody>
          <a:bodyPr/>
          <a:lstStyle/>
          <a:p>
            <a:r>
              <a:rPr lang="en-US" smtClean="0"/>
              <a:t>Click to edit Master title style</a:t>
            </a:r>
            <a:endParaRPr 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752600" y="274638"/>
            <a:ext cx="69342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Slide Number Placeholder 7"/>
          <p:cNvSpPr>
            <a:spLocks noGrp="1"/>
          </p:cNvSpPr>
          <p:nvPr>
            <p:ph type="sldNum" sz="quarter" idx="10"/>
          </p:nvPr>
        </p:nvSpPr>
        <p:spPr/>
        <p:txBody>
          <a:bodyPr/>
          <a:lstStyle/>
          <a:p>
            <a:fld id="{6182B678-6FDD-40D4-940F-81891D604945}" type="slidenum">
              <a:rPr lang="en-US" smtClean="0"/>
              <a:pPr/>
              <a:t>‹#›</a:t>
            </a:fld>
            <a:endParaRPr lang="en-US" dirty="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Title 9"/>
          <p:cNvSpPr>
            <a:spLocks noGrp="1"/>
          </p:cNvSpPr>
          <p:nvPr>
            <p:ph type="title"/>
          </p:nvPr>
        </p:nvSpPr>
        <p:spPr>
          <a:xfrm>
            <a:off x="1752600" y="274638"/>
            <a:ext cx="6934200" cy="1143000"/>
          </a:xfrm>
          <a:prstGeom prst="rect">
            <a:avLst/>
          </a:prstGeom>
        </p:spPr>
        <p:txBody>
          <a:bodyPr/>
          <a:lstStyle/>
          <a:p>
            <a:r>
              <a:rPr lang="en-US" smtClean="0"/>
              <a:t>Click to edit Master title style</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itle 5"/>
          <p:cNvSpPr>
            <a:spLocks noGrp="1"/>
          </p:cNvSpPr>
          <p:nvPr>
            <p:ph type="title"/>
          </p:nvPr>
        </p:nvSpPr>
        <p:spPr>
          <a:xfrm>
            <a:off x="628650" y="365125"/>
            <a:ext cx="7886700" cy="1325563"/>
          </a:xfrm>
          <a:prstGeom prst="rect">
            <a:avLst/>
          </a:prstGeom>
        </p:spPr>
        <p:txBody>
          <a:bodyPr/>
          <a:lstStyle/>
          <a:p>
            <a:r>
              <a:rPr lang="en-US" smtClean="0"/>
              <a:t>Click to edit Master title style</a:t>
            </a:r>
            <a:endParaRPr lang="en-US"/>
          </a:p>
        </p:txBody>
      </p:sp>
      <p:sp>
        <p:nvSpPr>
          <p:cNvPr id="7" name="Slide Number Placeholder 6"/>
          <p:cNvSpPr>
            <a:spLocks noGrp="1"/>
          </p:cNvSpPr>
          <p:nvPr>
            <p:ph type="sldNum" sz="quarter" idx="10"/>
          </p:nvPr>
        </p:nvSpPr>
        <p:spPr/>
        <p:txBody>
          <a:bodyPr/>
          <a:lstStyle/>
          <a:p>
            <a:fld id="{6182B678-6FDD-40D4-940F-81891D604945}"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752600" y="274638"/>
            <a:ext cx="6934200" cy="114300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82B678-6FDD-40D4-940F-81891D604945}" type="slidenum">
              <a:rPr lang="en-US" smtClean="0"/>
              <a:pPr/>
              <a:t>‹#›</a:t>
            </a:fld>
            <a:endParaRPr lang="en-US" dirty="0"/>
          </a:p>
        </p:txBody>
      </p:sp>
      <p:grpSp>
        <p:nvGrpSpPr>
          <p:cNvPr id="9" name="Group 8"/>
          <p:cNvGrpSpPr/>
          <p:nvPr userDrawn="1"/>
        </p:nvGrpSpPr>
        <p:grpSpPr>
          <a:xfrm>
            <a:off x="182603" y="199854"/>
            <a:ext cx="1295399" cy="685800"/>
            <a:chOff x="381000" y="381000"/>
            <a:chExt cx="2143125" cy="1130300"/>
          </a:xfrm>
        </p:grpSpPr>
        <p:pic>
          <p:nvPicPr>
            <p:cNvPr id="7" name="Picture 1" descr="J:\Clip Art\USAF_logo.png"/>
            <p:cNvPicPr>
              <a:picLocks noChangeAspect="1" noChangeArrowheads="1"/>
            </p:cNvPicPr>
            <p:nvPr userDrawn="1"/>
          </p:nvPicPr>
          <p:blipFill>
            <a:blip r:embed="rId13" cstate="print"/>
            <a:srcRect/>
            <a:stretch>
              <a:fillRect/>
            </a:stretch>
          </p:blipFill>
          <p:spPr bwMode="auto">
            <a:xfrm>
              <a:off x="1524000" y="381000"/>
              <a:ext cx="907915" cy="762000"/>
            </a:xfrm>
            <a:prstGeom prst="rect">
              <a:avLst/>
            </a:prstGeom>
            <a:noFill/>
          </p:spPr>
        </p:pic>
        <p:pic>
          <p:nvPicPr>
            <p:cNvPr id="8" name="Picture 4"/>
            <p:cNvPicPr>
              <a:picLocks noChangeAspect="1" noChangeArrowheads="1"/>
            </p:cNvPicPr>
            <p:nvPr userDrawn="1"/>
          </p:nvPicPr>
          <p:blipFill>
            <a:blip r:embed="rId14" cstate="print">
              <a:clrChange>
                <a:clrFrom>
                  <a:srgbClr val="FFFFFF"/>
                </a:clrFrom>
                <a:clrTo>
                  <a:srgbClr val="FFFFFF">
                    <a:alpha val="0"/>
                  </a:srgbClr>
                </a:clrTo>
              </a:clrChange>
            </a:blip>
            <a:srcRect/>
            <a:stretch>
              <a:fillRect/>
            </a:stretch>
          </p:blipFill>
          <p:spPr bwMode="auto">
            <a:xfrm>
              <a:off x="381000" y="381000"/>
              <a:ext cx="2143125" cy="1130300"/>
            </a:xfrm>
            <a:prstGeom prst="rect">
              <a:avLst/>
            </a:prstGeom>
            <a:noFill/>
            <a:ln w="9525">
              <a:noFill/>
              <a:miter lim="800000"/>
              <a:headEnd/>
              <a:tailEnd/>
            </a:ln>
          </p:spPr>
        </p:pic>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685800" y="2130425"/>
            <a:ext cx="8001000" cy="1470025"/>
          </a:xfrm>
          <a:prstGeom prst="rect">
            <a:avLst/>
          </a:prstGeom>
        </p:spPr>
        <p:txBody>
          <a:bodyPr>
            <a:normAutofit/>
          </a:bodyPr>
          <a:lstStyle/>
          <a:p>
            <a:r>
              <a:rPr lang="en-US" sz="5400" b="1" i="1" dirty="0" smtClean="0">
                <a:solidFill>
                  <a:srgbClr val="7030A0"/>
                </a:solidFill>
                <a:effectLst>
                  <a:outerShdw blurRad="38100" dist="38100" dir="2700000" algn="tl">
                    <a:srgbClr val="000000">
                      <a:alpha val="43137"/>
                    </a:srgbClr>
                  </a:outerShdw>
                </a:effectLst>
              </a:rPr>
              <a:t>Mid-Point Review</a:t>
            </a:r>
            <a:endParaRPr lang="en-US" sz="5400" b="1" i="1" dirty="0">
              <a:solidFill>
                <a:srgbClr val="7030A0"/>
              </a:solidFill>
              <a:effectLst>
                <a:outerShdw blurRad="38100" dist="38100" dir="2700000" algn="tl">
                  <a:srgbClr val="000000">
                    <a:alpha val="43137"/>
                  </a:srgbClr>
                </a:outerShdw>
              </a:effectLst>
            </a:endParaRPr>
          </a:p>
        </p:txBody>
      </p:sp>
      <p:sp>
        <p:nvSpPr>
          <p:cNvPr id="2" name="Rectangle 1"/>
          <p:cNvSpPr/>
          <p:nvPr/>
        </p:nvSpPr>
        <p:spPr>
          <a:xfrm>
            <a:off x="1143000" y="3886200"/>
            <a:ext cx="7086600" cy="461665"/>
          </a:xfrm>
          <a:prstGeom prst="rect">
            <a:avLst/>
          </a:prstGeom>
        </p:spPr>
        <p:txBody>
          <a:bodyPr wrap="square">
            <a:spAutoFit/>
          </a:bodyPr>
          <a:lstStyle/>
          <a:p>
            <a:pPr algn="ctr"/>
            <a:r>
              <a:rPr lang="en-US" sz="2400" b="1" dirty="0">
                <a:solidFill>
                  <a:srgbClr val="FF0000"/>
                </a:solidFill>
              </a:rPr>
              <a:t>**Mandatory requirement by the Federal Register** </a:t>
            </a:r>
          </a:p>
        </p:txBody>
      </p:sp>
    </p:spTree>
    <p:extLst>
      <p:ext uri="{BB962C8B-B14F-4D97-AF65-F5344CB8AC3E}">
        <p14:creationId xmlns:p14="http://schemas.microsoft.com/office/powerpoint/2010/main" val="61935739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1866900" y="12032"/>
            <a:ext cx="6819900" cy="611187"/>
          </a:xfrm>
          <a:prstGeom prst="rect">
            <a:avLst/>
          </a:prstGeom>
        </p:spPr>
        <p:txBody>
          <a:bodyPr>
            <a:noAutofit/>
          </a:bodyPr>
          <a:lstStyle/>
          <a:p>
            <a:pPr algn="r"/>
            <a:r>
              <a:rPr lang="en-US" sz="3600" b="1" i="1" dirty="0" smtClean="0">
                <a:solidFill>
                  <a:srgbClr val="7030A0"/>
                </a:solidFill>
                <a:effectLst>
                  <a:outerShdw blurRad="38100" dist="38100" dir="2700000" algn="tl">
                    <a:srgbClr val="000000">
                      <a:alpha val="43137"/>
                    </a:srgbClr>
                  </a:outerShdw>
                </a:effectLst>
              </a:rPr>
              <a:t>Required Mid-Point Review</a:t>
            </a:r>
            <a:br>
              <a:rPr lang="en-US" sz="3600" b="1" i="1" dirty="0" smtClean="0">
                <a:solidFill>
                  <a:srgbClr val="7030A0"/>
                </a:solidFill>
                <a:effectLst>
                  <a:outerShdw blurRad="38100" dist="38100" dir="2700000" algn="tl">
                    <a:srgbClr val="000000">
                      <a:alpha val="43137"/>
                    </a:srgbClr>
                  </a:outerShdw>
                </a:effectLst>
              </a:rPr>
            </a:br>
            <a:r>
              <a:rPr lang="en-US" sz="3600" b="1" i="1" dirty="0" smtClean="0">
                <a:solidFill>
                  <a:srgbClr val="7030A0"/>
                </a:solidFill>
                <a:effectLst>
                  <a:outerShdw blurRad="38100" dist="38100" dir="2700000" algn="tl">
                    <a:srgbClr val="000000">
                      <a:alpha val="43137"/>
                    </a:srgbClr>
                  </a:outerShdw>
                </a:effectLst>
              </a:rPr>
              <a:t>Mar/Apr</a:t>
            </a:r>
          </a:p>
        </p:txBody>
      </p:sp>
      <p:sp>
        <p:nvSpPr>
          <p:cNvPr id="20483" name="Content Placeholder 2"/>
          <p:cNvSpPr>
            <a:spLocks noGrp="1"/>
          </p:cNvSpPr>
          <p:nvPr>
            <p:ph idx="1"/>
          </p:nvPr>
        </p:nvSpPr>
        <p:spPr>
          <a:xfrm>
            <a:off x="533400" y="1295400"/>
            <a:ext cx="8229600" cy="5105400"/>
          </a:xfrm>
        </p:spPr>
        <p:txBody>
          <a:bodyPr>
            <a:noAutofit/>
          </a:bodyPr>
          <a:lstStyle/>
          <a:p>
            <a:pPr>
              <a:buFont typeface="Wingdings" panose="05000000000000000000" pitchFamily="2" charset="2"/>
              <a:buChar char="§"/>
            </a:pPr>
            <a:r>
              <a:rPr lang="en-US" sz="2400" b="1" dirty="0" smtClean="0"/>
              <a:t>Identifies strengths </a:t>
            </a:r>
            <a:r>
              <a:rPr lang="en-US" sz="2400" b="1" dirty="0"/>
              <a:t>and weaknesses in areas of contributions to the </a:t>
            </a:r>
            <a:r>
              <a:rPr lang="en-US" sz="2400" b="1" dirty="0" smtClean="0"/>
              <a:t>objectives</a:t>
            </a:r>
          </a:p>
          <a:p>
            <a:pPr>
              <a:buFont typeface="Wingdings" panose="05000000000000000000" pitchFamily="2" charset="2"/>
              <a:buChar char="§"/>
            </a:pPr>
            <a:r>
              <a:rPr lang="en-US" sz="2400" b="1" dirty="0" smtClean="0"/>
              <a:t>Employee writes mid-point assessment statements using the mandatory assessment writing format (What-Result-Impact)</a:t>
            </a:r>
          </a:p>
          <a:p>
            <a:pPr>
              <a:buFont typeface="Wingdings" panose="05000000000000000000" pitchFamily="2" charset="2"/>
              <a:buChar char="§"/>
            </a:pPr>
            <a:r>
              <a:rPr lang="en-US" sz="2400" b="1" dirty="0" smtClean="0"/>
              <a:t>Any </a:t>
            </a:r>
            <a:r>
              <a:rPr lang="en-US" sz="2400" b="1" dirty="0"/>
              <a:t>deficiencies or inadequate level of contribution must be documented and a reasonable period of time established for the employee to improve</a:t>
            </a:r>
          </a:p>
          <a:p>
            <a:pPr>
              <a:buFont typeface="Wingdings" panose="05000000000000000000" pitchFamily="2" charset="2"/>
              <a:buChar char="§"/>
            </a:pPr>
            <a:r>
              <a:rPr lang="en-US" sz="2400" b="1" dirty="0" smtClean="0"/>
              <a:t>Review </a:t>
            </a:r>
            <a:r>
              <a:rPr lang="en-US" sz="2400" b="1" dirty="0"/>
              <a:t>progress against </a:t>
            </a:r>
            <a:r>
              <a:rPr lang="en-US" sz="2400" b="1" dirty="0" smtClean="0"/>
              <a:t>Individual </a:t>
            </a:r>
            <a:r>
              <a:rPr lang="en-US" sz="2400" b="1" dirty="0"/>
              <a:t>Development Plan goals, continuous learning points and, if applicable, certification</a:t>
            </a:r>
          </a:p>
          <a:p>
            <a:pPr>
              <a:buFont typeface="Wingdings" panose="05000000000000000000" pitchFamily="2" charset="2"/>
              <a:buChar char="§"/>
            </a:pPr>
            <a:r>
              <a:rPr lang="en-US" sz="2400" b="1" dirty="0"/>
              <a:t>P</a:t>
            </a:r>
            <a:r>
              <a:rPr lang="en-US" sz="2400" b="1" dirty="0" smtClean="0"/>
              <a:t>rovides an opportunity to modify contribution plans if necessary</a:t>
            </a:r>
          </a:p>
          <a:p>
            <a:pPr>
              <a:buFont typeface="Wingdings" panose="05000000000000000000" pitchFamily="2" charset="2"/>
              <a:buChar char="§"/>
            </a:pPr>
            <a:r>
              <a:rPr lang="en-US" sz="2400" b="1" dirty="0" smtClean="0"/>
              <a:t>Documentation </a:t>
            </a:r>
            <a:r>
              <a:rPr lang="en-US" sz="2400" b="1" dirty="0"/>
              <a:t>is completed in CAS2Net </a:t>
            </a:r>
          </a:p>
          <a:p>
            <a:pPr marL="0" indent="0"/>
            <a:endParaRPr lang="en-US" sz="2400" i="1" dirty="0" smtClean="0"/>
          </a:p>
        </p:txBody>
      </p:sp>
      <p:sp>
        <p:nvSpPr>
          <p:cNvPr id="3" name="Slide Number Placeholder 2"/>
          <p:cNvSpPr>
            <a:spLocks noGrp="1"/>
          </p:cNvSpPr>
          <p:nvPr>
            <p:ph type="sldNum" sz="quarter" idx="10"/>
          </p:nvPr>
        </p:nvSpPr>
        <p:spPr/>
        <p:txBody>
          <a:bodyPr/>
          <a:lstStyle/>
          <a:p>
            <a:fld id="{6182B678-6FDD-40D4-940F-81891D604945}" type="slidenum">
              <a:rPr lang="en-US" smtClean="0"/>
              <a:pPr/>
              <a:t>2</a:t>
            </a:fld>
            <a:endParaRPr lang="en-US" dirty="0"/>
          </a:p>
        </p:txBody>
      </p:sp>
    </p:spTree>
    <p:extLst>
      <p:ext uri="{BB962C8B-B14F-4D97-AF65-F5344CB8AC3E}">
        <p14:creationId xmlns:p14="http://schemas.microsoft.com/office/powerpoint/2010/main" val="107077967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685800" y="2130425"/>
            <a:ext cx="8001000" cy="1470025"/>
          </a:xfrm>
          <a:prstGeom prst="rect">
            <a:avLst/>
          </a:prstGeom>
        </p:spPr>
        <p:txBody>
          <a:bodyPr>
            <a:noAutofit/>
          </a:bodyPr>
          <a:lstStyle/>
          <a:p>
            <a:r>
              <a:rPr lang="en-US" sz="4800" b="1" i="1" dirty="0" smtClean="0">
                <a:solidFill>
                  <a:srgbClr val="7030A0"/>
                </a:solidFill>
                <a:effectLst>
                  <a:outerShdw blurRad="38100" dist="38100" dir="2700000" algn="tl">
                    <a:srgbClr val="000000">
                      <a:alpha val="43137"/>
                    </a:srgbClr>
                  </a:outerShdw>
                </a:effectLst>
              </a:rPr>
              <a:t>Writing a CCAS Assessments</a:t>
            </a:r>
            <a:br>
              <a:rPr lang="en-US" sz="4800" b="1" i="1" dirty="0" smtClean="0">
                <a:solidFill>
                  <a:srgbClr val="7030A0"/>
                </a:solidFill>
                <a:effectLst>
                  <a:outerShdw blurRad="38100" dist="38100" dir="2700000" algn="tl">
                    <a:srgbClr val="000000">
                      <a:alpha val="43137"/>
                    </a:srgbClr>
                  </a:outerShdw>
                </a:effectLst>
              </a:rPr>
            </a:br>
            <a:r>
              <a:rPr lang="en-US" sz="4800" b="1" i="1" dirty="0" smtClean="0">
                <a:solidFill>
                  <a:srgbClr val="7030A0"/>
                </a:solidFill>
                <a:effectLst>
                  <a:outerShdw blurRad="38100" dist="38100" dir="2700000" algn="tl">
                    <a:srgbClr val="000000">
                      <a:alpha val="43137"/>
                    </a:srgbClr>
                  </a:outerShdw>
                </a:effectLst>
              </a:rPr>
              <a:t>for Mid-Point, Closeout and Annual Appraisals</a:t>
            </a:r>
            <a:br>
              <a:rPr lang="en-US" sz="4800" b="1" i="1" dirty="0" smtClean="0">
                <a:solidFill>
                  <a:srgbClr val="7030A0"/>
                </a:solidFill>
                <a:effectLst>
                  <a:outerShdw blurRad="38100" dist="38100" dir="2700000" algn="tl">
                    <a:srgbClr val="000000">
                      <a:alpha val="43137"/>
                    </a:srgbClr>
                  </a:outerShdw>
                </a:effectLst>
              </a:rPr>
            </a:br>
            <a:endParaRPr lang="en-US" sz="4800" b="1" i="1" dirty="0">
              <a:solidFill>
                <a:srgbClr val="7030A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27600288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86024" y="0"/>
            <a:ext cx="7032860" cy="639762"/>
          </a:xfrm>
          <a:prstGeom prst="rect">
            <a:avLst/>
          </a:prstGeom>
        </p:spPr>
        <p:txBody>
          <a:bodyPr>
            <a:noAutofit/>
          </a:bodyPr>
          <a:lstStyle/>
          <a:p>
            <a:pPr algn="r"/>
            <a:r>
              <a:rPr lang="en-US" sz="3600" b="1" i="1" dirty="0" smtClean="0">
                <a:solidFill>
                  <a:srgbClr val="7030A0"/>
                </a:solidFill>
                <a:effectLst>
                  <a:outerShdw blurRad="38100" dist="38100" dir="2700000" algn="tl">
                    <a:srgbClr val="000000">
                      <a:alpha val="43137"/>
                    </a:srgbClr>
                  </a:outerShdw>
                </a:effectLst>
              </a:rPr>
              <a:t>Employee and Supervisor Assessments</a:t>
            </a:r>
            <a:endParaRPr lang="en-US" sz="3600" b="1" i="1" dirty="0">
              <a:solidFill>
                <a:srgbClr val="7030A0"/>
              </a:solidFill>
              <a:effectLst>
                <a:outerShdw blurRad="38100" dist="38100" dir="2700000" algn="tl">
                  <a:srgbClr val="000000">
                    <a:alpha val="43137"/>
                  </a:srgbClr>
                </a:outerShdw>
              </a:effectLst>
            </a:endParaRPr>
          </a:p>
        </p:txBody>
      </p:sp>
      <p:sp>
        <p:nvSpPr>
          <p:cNvPr id="6" name="Subtitle 6"/>
          <p:cNvSpPr txBox="1">
            <a:spLocks/>
          </p:cNvSpPr>
          <p:nvPr/>
        </p:nvSpPr>
        <p:spPr>
          <a:xfrm>
            <a:off x="457200" y="1219200"/>
            <a:ext cx="8229600" cy="44196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400" b="1" u="sng" dirty="0"/>
              <a:t>Need for Good </a:t>
            </a:r>
            <a:r>
              <a:rPr lang="en-US" sz="2400" b="1" u="sng" dirty="0" smtClean="0"/>
              <a:t>Assessments</a:t>
            </a:r>
          </a:p>
          <a:p>
            <a:pPr marL="0" indent="0">
              <a:buNone/>
            </a:pPr>
            <a:endParaRPr lang="en-US" sz="2000" b="1" dirty="0" smtClean="0"/>
          </a:p>
          <a:p>
            <a:pPr>
              <a:buFont typeface="Wingdings" panose="05000000000000000000" pitchFamily="2" charset="2"/>
              <a:buChar char="§"/>
            </a:pPr>
            <a:r>
              <a:rPr lang="en-US" sz="2000" b="1" dirty="0" smtClean="0"/>
              <a:t>Employee </a:t>
            </a:r>
            <a:r>
              <a:rPr lang="en-US" sz="2000" b="1" dirty="0"/>
              <a:t>and supervisor assessments of performance are crucial to the pay pool panel members when they are reviewing </a:t>
            </a:r>
            <a:r>
              <a:rPr lang="en-US" sz="2000" b="1" dirty="0" smtClean="0"/>
              <a:t>ratings </a:t>
            </a:r>
          </a:p>
          <a:p>
            <a:pPr>
              <a:buFont typeface="Wingdings" panose="05000000000000000000" pitchFamily="2" charset="2"/>
              <a:buChar char="§"/>
            </a:pPr>
            <a:endParaRPr lang="en-US" sz="2000" b="1" dirty="0"/>
          </a:p>
          <a:p>
            <a:pPr>
              <a:buFont typeface="Wingdings" panose="05000000000000000000" pitchFamily="2" charset="2"/>
              <a:buChar char="§"/>
            </a:pPr>
            <a:r>
              <a:rPr lang="en-US" sz="2000" b="1" dirty="0" smtClean="0"/>
              <a:t>Rating </a:t>
            </a:r>
            <a:r>
              <a:rPr lang="en-US" sz="2000" b="1" dirty="0"/>
              <a:t>recommendations reviewed by the pay pool panel must contain sufficient information to justify the rating before a final rating is </a:t>
            </a:r>
            <a:r>
              <a:rPr lang="en-US" sz="2000" b="1" dirty="0" smtClean="0"/>
              <a:t>approved </a:t>
            </a:r>
            <a:endParaRPr lang="en-US" sz="2000" b="1" dirty="0"/>
          </a:p>
          <a:p>
            <a:pPr marL="0" indent="0">
              <a:buNone/>
            </a:pPr>
            <a:endParaRPr lang="en-US" sz="2000" i="1" dirty="0" smtClean="0"/>
          </a:p>
          <a:p>
            <a:pPr marL="0" indent="0">
              <a:buNone/>
            </a:pPr>
            <a:endParaRPr lang="en-US" sz="2000" i="1" dirty="0" smtClean="0"/>
          </a:p>
        </p:txBody>
      </p:sp>
      <p:sp>
        <p:nvSpPr>
          <p:cNvPr id="10" name="Rectangle 9"/>
          <p:cNvSpPr/>
          <p:nvPr/>
        </p:nvSpPr>
        <p:spPr>
          <a:xfrm>
            <a:off x="1600200" y="4800600"/>
            <a:ext cx="1371600" cy="4050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chemeClr val="tx1"/>
                </a:solidFill>
              </a:rPr>
              <a:t>Job Achievement &amp;/or Innovation</a:t>
            </a:r>
            <a:endParaRPr lang="en-US" sz="1200" b="1" dirty="0">
              <a:solidFill>
                <a:schemeClr val="tx1"/>
              </a:solidFill>
            </a:endParaRPr>
          </a:p>
        </p:txBody>
      </p:sp>
      <p:sp>
        <p:nvSpPr>
          <p:cNvPr id="11" name="Rectangle 10"/>
          <p:cNvSpPr/>
          <p:nvPr/>
        </p:nvSpPr>
        <p:spPr>
          <a:xfrm>
            <a:off x="3818897" y="4800600"/>
            <a:ext cx="1371600" cy="4050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chemeClr val="tx1"/>
                </a:solidFill>
              </a:rPr>
              <a:t>Mission Support</a:t>
            </a:r>
            <a:endParaRPr lang="en-US" sz="1200" b="1" dirty="0">
              <a:solidFill>
                <a:schemeClr val="tx1"/>
              </a:solidFill>
            </a:endParaRPr>
          </a:p>
        </p:txBody>
      </p:sp>
      <p:sp>
        <p:nvSpPr>
          <p:cNvPr id="12" name="Rectangle 11"/>
          <p:cNvSpPr/>
          <p:nvPr/>
        </p:nvSpPr>
        <p:spPr>
          <a:xfrm>
            <a:off x="5791200" y="4800961"/>
            <a:ext cx="1371600" cy="4050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chemeClr val="tx1"/>
                </a:solidFill>
              </a:rPr>
              <a:t>Communication &amp;/or Teamwork</a:t>
            </a:r>
            <a:endParaRPr lang="en-US" sz="1200" b="1" dirty="0">
              <a:solidFill>
                <a:schemeClr val="tx1"/>
              </a:solidFill>
            </a:endParaRPr>
          </a:p>
        </p:txBody>
      </p:sp>
    </p:spTree>
    <p:extLst>
      <p:ext uri="{BB962C8B-B14F-4D97-AF65-F5344CB8AC3E}">
        <p14:creationId xmlns:p14="http://schemas.microsoft.com/office/powerpoint/2010/main" val="865419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32886"/>
            <a:ext cx="7315200" cy="1143000"/>
          </a:xfrm>
        </p:spPr>
        <p:txBody>
          <a:bodyPr>
            <a:noAutofit/>
          </a:bodyPr>
          <a:lstStyle/>
          <a:p>
            <a:pPr algn="r"/>
            <a:r>
              <a:rPr lang="en-US" sz="3600" b="1" i="1" dirty="0" smtClean="0">
                <a:solidFill>
                  <a:srgbClr val="7030A0"/>
                </a:solidFill>
                <a:effectLst>
                  <a:outerShdw blurRad="38100" dist="38100" dir="2700000" algn="tl">
                    <a:srgbClr val="000000">
                      <a:alpha val="43137"/>
                    </a:srgbClr>
                  </a:outerShdw>
                </a:effectLst>
              </a:rPr>
              <a:t>Capturing Contributions throughout the year</a:t>
            </a:r>
            <a:endParaRPr lang="en-US" sz="3600" b="1" i="1" dirty="0">
              <a:solidFill>
                <a:srgbClr val="7030A0"/>
              </a:solidFill>
              <a:effectLst>
                <a:outerShdw blurRad="38100" dist="38100" dir="2700000" algn="tl">
                  <a:srgbClr val="000000">
                    <a:alpha val="43137"/>
                  </a:srgbClr>
                </a:outerShdw>
              </a:effectLst>
            </a:endParaRPr>
          </a:p>
        </p:txBody>
      </p:sp>
      <p:sp>
        <p:nvSpPr>
          <p:cNvPr id="3" name="Content Placeholder 2"/>
          <p:cNvSpPr>
            <a:spLocks noGrp="1"/>
          </p:cNvSpPr>
          <p:nvPr>
            <p:ph sz="half" idx="1"/>
          </p:nvPr>
        </p:nvSpPr>
        <p:spPr>
          <a:xfrm>
            <a:off x="313549" y="1696854"/>
            <a:ext cx="8516901" cy="4267200"/>
          </a:xfrm>
        </p:spPr>
        <p:txBody>
          <a:bodyPr>
            <a:noAutofit/>
          </a:bodyPr>
          <a:lstStyle/>
          <a:p>
            <a:pPr>
              <a:buFont typeface="Wingdings" panose="05000000000000000000" pitchFamily="2" charset="2"/>
              <a:buChar char="§"/>
            </a:pPr>
            <a:r>
              <a:rPr lang="en-US" sz="2400" b="1" dirty="0" smtClean="0"/>
              <a:t>The advantage </a:t>
            </a:r>
            <a:r>
              <a:rPr lang="en-US" sz="2400" b="1" dirty="0"/>
              <a:t>of using CAS2Net right from the start </a:t>
            </a:r>
            <a:r>
              <a:rPr lang="en-US" sz="2400" b="1" dirty="0" smtClean="0"/>
              <a:t>is </a:t>
            </a:r>
            <a:r>
              <a:rPr lang="en-US" sz="2400" b="1" dirty="0"/>
              <a:t>that the system already has separate tabs for you to enter your contribution results for each of the factors and keeps count of the characters used as your enter your </a:t>
            </a:r>
            <a:r>
              <a:rPr lang="en-US" sz="2400" b="1" dirty="0" smtClean="0"/>
              <a:t>text</a:t>
            </a:r>
          </a:p>
          <a:p>
            <a:pPr>
              <a:buFont typeface="Wingdings" panose="05000000000000000000" pitchFamily="2" charset="2"/>
              <a:buChar char="§"/>
            </a:pPr>
            <a:endParaRPr lang="en-US" sz="2400" b="1" dirty="0" smtClean="0"/>
          </a:p>
          <a:p>
            <a:pPr>
              <a:buFont typeface="Wingdings" panose="05000000000000000000" pitchFamily="2" charset="2"/>
              <a:buChar char="§"/>
            </a:pPr>
            <a:r>
              <a:rPr lang="en-US" sz="2400" b="1" dirty="0" smtClean="0"/>
              <a:t>Although </a:t>
            </a:r>
            <a:r>
              <a:rPr lang="en-US" sz="2400" b="1" dirty="0"/>
              <a:t>the user receives warnings, the system times out if no information is saved or submitted within a 15 minute timeframe.  Any information that has not been saved is at risk if the system times out, so be sure to save frequently when using </a:t>
            </a:r>
            <a:r>
              <a:rPr lang="en-US" sz="2400" b="1" dirty="0" smtClean="0"/>
              <a:t>CAS2Net</a:t>
            </a:r>
            <a:endParaRPr lang="en-US" sz="2400" b="1" dirty="0"/>
          </a:p>
          <a:p>
            <a:pPr lvl="1"/>
            <a:endParaRPr lang="en-US" sz="1800" dirty="0"/>
          </a:p>
        </p:txBody>
      </p:sp>
      <p:sp>
        <p:nvSpPr>
          <p:cNvPr id="6" name="Slide Number Placeholder 5"/>
          <p:cNvSpPr>
            <a:spLocks noGrp="1"/>
          </p:cNvSpPr>
          <p:nvPr>
            <p:ph type="sldNum" sz="quarter" idx="10"/>
          </p:nvPr>
        </p:nvSpPr>
        <p:spPr/>
        <p:txBody>
          <a:bodyPr/>
          <a:lstStyle/>
          <a:p>
            <a:fld id="{6182B678-6FDD-40D4-940F-81891D604945}" type="slidenum">
              <a:rPr lang="en-US" smtClean="0"/>
              <a:pPr/>
              <a:t>5</a:t>
            </a:fld>
            <a:endParaRPr lang="en-US" dirty="0"/>
          </a:p>
        </p:txBody>
      </p:sp>
    </p:spTree>
    <p:extLst>
      <p:ext uri="{BB962C8B-B14F-4D97-AF65-F5344CB8AC3E}">
        <p14:creationId xmlns:p14="http://schemas.microsoft.com/office/powerpoint/2010/main" val="22968293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9487" y="44292"/>
            <a:ext cx="7315200" cy="1143000"/>
          </a:xfrm>
        </p:spPr>
        <p:txBody>
          <a:bodyPr>
            <a:noAutofit/>
          </a:bodyPr>
          <a:lstStyle/>
          <a:p>
            <a:pPr algn="r"/>
            <a:r>
              <a:rPr lang="en-US" sz="3600" b="1" i="1" dirty="0">
                <a:solidFill>
                  <a:srgbClr val="7030A0"/>
                </a:solidFill>
                <a:effectLst>
                  <a:outerShdw blurRad="38100" dist="38100" dir="2700000" algn="tl">
                    <a:srgbClr val="000000">
                      <a:alpha val="43137"/>
                    </a:srgbClr>
                  </a:outerShdw>
                </a:effectLst>
              </a:rPr>
              <a:t>Preparing for the Self-Assessment</a:t>
            </a:r>
          </a:p>
        </p:txBody>
      </p:sp>
      <p:sp>
        <p:nvSpPr>
          <p:cNvPr id="5" name="Content Placeholder 2"/>
          <p:cNvSpPr>
            <a:spLocks noGrp="1"/>
          </p:cNvSpPr>
          <p:nvPr>
            <p:ph idx="4294967295"/>
          </p:nvPr>
        </p:nvSpPr>
        <p:spPr>
          <a:xfrm>
            <a:off x="448887" y="1516957"/>
            <a:ext cx="8305800" cy="4876800"/>
          </a:xfrm>
          <a:prstGeom prst="rect">
            <a:avLst/>
          </a:prstGeom>
        </p:spPr>
        <p:txBody>
          <a:bodyPr>
            <a:normAutofit/>
          </a:bodyPr>
          <a:lstStyle/>
          <a:p>
            <a:pPr marL="457200" lvl="1" indent="-457200">
              <a:spcAft>
                <a:spcPts val="600"/>
              </a:spcAft>
              <a:buFont typeface="Wingdings" panose="05000000000000000000" pitchFamily="2" charset="2"/>
              <a:buChar char="§"/>
            </a:pPr>
            <a:r>
              <a:rPr lang="en-US" b="1" dirty="0" smtClean="0"/>
              <a:t>Review the contribution plan</a:t>
            </a:r>
          </a:p>
          <a:p>
            <a:pPr marL="457200" lvl="1" indent="-457200">
              <a:spcAft>
                <a:spcPts val="600"/>
              </a:spcAft>
              <a:buFont typeface="Wingdings" panose="05000000000000000000" pitchFamily="2" charset="2"/>
              <a:buChar char="§"/>
            </a:pPr>
            <a:r>
              <a:rPr lang="en-US" b="1" dirty="0" smtClean="0"/>
              <a:t>Assess by factor, assess contributions against factor descriptors / discriminators</a:t>
            </a:r>
          </a:p>
          <a:p>
            <a:pPr marL="461963" indent="-461963">
              <a:spcAft>
                <a:spcPts val="600"/>
              </a:spcAft>
              <a:buFont typeface="Wingdings" panose="05000000000000000000" pitchFamily="2" charset="2"/>
              <a:buChar char="§"/>
            </a:pPr>
            <a:r>
              <a:rPr lang="en-US" sz="2800" b="1" dirty="0" smtClean="0"/>
              <a:t>For the annual, review the Mid-Point and, if applicable, Closeouts</a:t>
            </a:r>
          </a:p>
          <a:p>
            <a:pPr marL="461963" indent="-461963">
              <a:spcAft>
                <a:spcPts val="600"/>
              </a:spcAft>
              <a:buFont typeface="Wingdings" panose="05000000000000000000" pitchFamily="2" charset="2"/>
              <a:buChar char="§"/>
            </a:pPr>
            <a:r>
              <a:rPr lang="en-US" sz="2800" b="1" dirty="0" smtClean="0"/>
              <a:t>Remember that with CCAS, results are measured relative to salary level</a:t>
            </a:r>
            <a:endParaRPr lang="en-US" sz="2800" b="1" dirty="0"/>
          </a:p>
          <a:p>
            <a:pPr marL="914400" lvl="1" indent="-457200">
              <a:spcAft>
                <a:spcPts val="600"/>
              </a:spcAft>
              <a:buNone/>
            </a:pPr>
            <a:endParaRPr lang="en-US" sz="2800" dirty="0" smtClean="0"/>
          </a:p>
        </p:txBody>
      </p:sp>
      <p:sp>
        <p:nvSpPr>
          <p:cNvPr id="6" name="Slide Number Placeholder 5"/>
          <p:cNvSpPr>
            <a:spLocks noGrp="1"/>
          </p:cNvSpPr>
          <p:nvPr>
            <p:ph type="sldNum" sz="quarter" idx="10"/>
          </p:nvPr>
        </p:nvSpPr>
        <p:spPr/>
        <p:txBody>
          <a:bodyPr/>
          <a:lstStyle/>
          <a:p>
            <a:fld id="{6182B678-6FDD-40D4-940F-81891D604945}" type="slidenum">
              <a:rPr lang="en-US" smtClean="0"/>
              <a:pPr/>
              <a:t>6</a:t>
            </a:fld>
            <a:endParaRPr lang="en-US" dirty="0"/>
          </a:p>
        </p:txBody>
      </p:sp>
    </p:spTree>
    <p:extLst>
      <p:ext uri="{BB962C8B-B14F-4D97-AF65-F5344CB8AC3E}">
        <p14:creationId xmlns:p14="http://schemas.microsoft.com/office/powerpoint/2010/main" val="200462697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417"/>
            <a:ext cx="7315200" cy="1143000"/>
          </a:xfrm>
        </p:spPr>
        <p:txBody>
          <a:bodyPr>
            <a:noAutofit/>
          </a:bodyPr>
          <a:lstStyle/>
          <a:p>
            <a:pPr algn="r"/>
            <a:r>
              <a:rPr lang="en-US" sz="3600" b="1" i="1" dirty="0">
                <a:solidFill>
                  <a:srgbClr val="7030A0"/>
                </a:solidFill>
                <a:effectLst>
                  <a:outerShdw blurRad="38100" dist="38100" dir="2700000" algn="tl">
                    <a:srgbClr val="000000">
                      <a:alpha val="43137"/>
                    </a:srgbClr>
                  </a:outerShdw>
                </a:effectLst>
              </a:rPr>
              <a:t>What are Significant Accomplishments?</a:t>
            </a:r>
            <a:br>
              <a:rPr lang="en-US" sz="3600" b="1" i="1" dirty="0">
                <a:solidFill>
                  <a:srgbClr val="7030A0"/>
                </a:solidFill>
                <a:effectLst>
                  <a:outerShdw blurRad="38100" dist="38100" dir="2700000" algn="tl">
                    <a:srgbClr val="000000">
                      <a:alpha val="43137"/>
                    </a:srgbClr>
                  </a:outerShdw>
                </a:effectLst>
              </a:rPr>
            </a:br>
            <a:endParaRPr lang="en-US" sz="3600" b="1" i="1" dirty="0">
              <a:solidFill>
                <a:srgbClr val="7030A0"/>
              </a:solidFill>
              <a:effectLst>
                <a:outerShdw blurRad="38100" dist="38100" dir="2700000" algn="tl">
                  <a:srgbClr val="000000">
                    <a:alpha val="43137"/>
                  </a:srgbClr>
                </a:outerShdw>
              </a:effectLst>
            </a:endParaRPr>
          </a:p>
        </p:txBody>
      </p:sp>
      <p:sp>
        <p:nvSpPr>
          <p:cNvPr id="5" name="Content Placeholder 2"/>
          <p:cNvSpPr>
            <a:spLocks noGrp="1"/>
          </p:cNvSpPr>
          <p:nvPr>
            <p:ph idx="4294967295"/>
          </p:nvPr>
        </p:nvSpPr>
        <p:spPr>
          <a:xfrm>
            <a:off x="381000" y="1479550"/>
            <a:ext cx="8305800" cy="4876800"/>
          </a:xfrm>
          <a:prstGeom prst="rect">
            <a:avLst/>
          </a:prstGeom>
        </p:spPr>
        <p:txBody>
          <a:bodyPr>
            <a:normAutofit fontScale="92500" lnSpcReduction="10000"/>
          </a:bodyPr>
          <a:lstStyle/>
          <a:p>
            <a:pPr marL="0" indent="0">
              <a:buNone/>
            </a:pPr>
            <a:r>
              <a:rPr lang="en-US" sz="2800" b="1" dirty="0"/>
              <a:t>The following are characteristics of </a:t>
            </a:r>
            <a:r>
              <a:rPr lang="en-US" sz="2800" b="1" u="sng" dirty="0"/>
              <a:t>significant</a:t>
            </a:r>
            <a:r>
              <a:rPr lang="en-US" sz="2800" b="1" dirty="0"/>
              <a:t> accomplishments:</a:t>
            </a:r>
          </a:p>
          <a:p>
            <a:pPr>
              <a:buFont typeface="Wingdings" panose="05000000000000000000" pitchFamily="2" charset="2"/>
              <a:buChar char="§"/>
            </a:pPr>
            <a:endParaRPr lang="en-US" sz="2400" b="1" dirty="0"/>
          </a:p>
          <a:p>
            <a:pPr marL="800100" lvl="1" indent="-342900">
              <a:buFont typeface="Wingdings" panose="05000000000000000000" pitchFamily="2" charset="2"/>
              <a:buChar char="§"/>
            </a:pPr>
            <a:r>
              <a:rPr lang="en-US" sz="2400" b="1" dirty="0"/>
              <a:t> DoD/Air Force/Command/PEO/Program-wide Impact</a:t>
            </a:r>
          </a:p>
          <a:p>
            <a:pPr marL="800100" lvl="1" indent="-342900">
              <a:buFont typeface="Wingdings" panose="05000000000000000000" pitchFamily="2" charset="2"/>
              <a:buChar char="§"/>
            </a:pPr>
            <a:r>
              <a:rPr lang="en-US" sz="2400" b="1" dirty="0"/>
              <a:t> High Level of Difficulty</a:t>
            </a:r>
          </a:p>
          <a:p>
            <a:pPr marL="800100" lvl="1" indent="-342900">
              <a:buFont typeface="Wingdings" panose="05000000000000000000" pitchFamily="2" charset="2"/>
              <a:buChar char="§"/>
            </a:pPr>
            <a:r>
              <a:rPr lang="en-US" sz="2400" b="1" dirty="0"/>
              <a:t> Representing </a:t>
            </a:r>
            <a:r>
              <a:rPr lang="en-US" sz="2400" b="1" dirty="0" smtClean="0"/>
              <a:t>your organization </a:t>
            </a:r>
            <a:r>
              <a:rPr lang="en-US" sz="2400" b="1" dirty="0"/>
              <a:t>in Inter Agency Forums</a:t>
            </a:r>
          </a:p>
          <a:p>
            <a:pPr marL="800100" lvl="1" indent="-342900">
              <a:buFont typeface="Wingdings" panose="05000000000000000000" pitchFamily="2" charset="2"/>
              <a:buChar char="§"/>
            </a:pPr>
            <a:r>
              <a:rPr lang="en-US" sz="2400" b="1" dirty="0"/>
              <a:t> One of a Kind</a:t>
            </a:r>
          </a:p>
          <a:p>
            <a:pPr marL="800100" lvl="1" indent="-342900">
              <a:buFont typeface="Wingdings" panose="05000000000000000000" pitchFamily="2" charset="2"/>
              <a:buChar char="§"/>
            </a:pPr>
            <a:r>
              <a:rPr lang="en-US" sz="2400" b="1" dirty="0"/>
              <a:t> First Time</a:t>
            </a:r>
          </a:p>
          <a:p>
            <a:pPr marL="800100" lvl="1" indent="-342900">
              <a:buFont typeface="Wingdings" panose="05000000000000000000" pitchFamily="2" charset="2"/>
              <a:buChar char="§"/>
            </a:pPr>
            <a:r>
              <a:rPr lang="en-US" sz="2400" b="1" dirty="0"/>
              <a:t> High Visibility</a:t>
            </a:r>
          </a:p>
          <a:p>
            <a:pPr marL="800100" lvl="1" indent="-342900">
              <a:buFont typeface="Wingdings" panose="05000000000000000000" pitchFamily="2" charset="2"/>
              <a:buChar char="§"/>
            </a:pPr>
            <a:r>
              <a:rPr lang="en-US" sz="2400" b="1" dirty="0"/>
              <a:t> Wide Scope of Coordination</a:t>
            </a:r>
          </a:p>
          <a:p>
            <a:pPr marL="800100" lvl="1" indent="-342900">
              <a:buFont typeface="Wingdings" panose="05000000000000000000" pitchFamily="2" charset="2"/>
              <a:buChar char="§"/>
            </a:pPr>
            <a:r>
              <a:rPr lang="en-US" sz="2400" b="1" dirty="0"/>
              <a:t> Short Deadlines</a:t>
            </a:r>
          </a:p>
          <a:p>
            <a:pPr marL="800100" lvl="1" indent="-342900">
              <a:buFont typeface="Wingdings" panose="05000000000000000000" pitchFamily="2" charset="2"/>
              <a:buChar char="§"/>
            </a:pPr>
            <a:r>
              <a:rPr lang="en-US" sz="2400" b="1" dirty="0"/>
              <a:t> Competing Priorities</a:t>
            </a:r>
          </a:p>
          <a:p>
            <a:pPr marL="800100" lvl="1" indent="-342900">
              <a:buFont typeface="Wingdings" panose="05000000000000000000" pitchFamily="2" charset="2"/>
              <a:buChar char="§"/>
            </a:pPr>
            <a:r>
              <a:rPr lang="en-US" sz="2400" b="1" dirty="0"/>
              <a:t> Require Innovative Problem Solving </a:t>
            </a:r>
          </a:p>
          <a:p>
            <a:pPr marL="914400" lvl="1" indent="-457200">
              <a:spcAft>
                <a:spcPts val="600"/>
              </a:spcAft>
              <a:buNone/>
            </a:pPr>
            <a:endParaRPr lang="en-US" sz="2800" dirty="0" smtClean="0"/>
          </a:p>
        </p:txBody>
      </p:sp>
      <p:sp>
        <p:nvSpPr>
          <p:cNvPr id="6" name="Slide Number Placeholder 5"/>
          <p:cNvSpPr>
            <a:spLocks noGrp="1"/>
          </p:cNvSpPr>
          <p:nvPr>
            <p:ph type="sldNum" sz="quarter" idx="10"/>
          </p:nvPr>
        </p:nvSpPr>
        <p:spPr/>
        <p:txBody>
          <a:bodyPr/>
          <a:lstStyle/>
          <a:p>
            <a:fld id="{6182B678-6FDD-40D4-940F-81891D604945}" type="slidenum">
              <a:rPr lang="en-US" smtClean="0"/>
              <a:pPr/>
              <a:t>7</a:t>
            </a:fld>
            <a:endParaRPr lang="en-US" dirty="0"/>
          </a:p>
        </p:txBody>
      </p:sp>
    </p:spTree>
    <p:extLst>
      <p:ext uri="{BB962C8B-B14F-4D97-AF65-F5344CB8AC3E}">
        <p14:creationId xmlns:p14="http://schemas.microsoft.com/office/powerpoint/2010/main" val="6203559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7986" y="0"/>
            <a:ext cx="6934200" cy="1143000"/>
          </a:xfrm>
        </p:spPr>
        <p:txBody>
          <a:bodyPr>
            <a:normAutofit/>
          </a:bodyPr>
          <a:lstStyle/>
          <a:p>
            <a:pPr algn="r"/>
            <a:r>
              <a:rPr lang="en-US" sz="3600" b="1" i="1" dirty="0" smtClean="0">
                <a:solidFill>
                  <a:srgbClr val="7030A0"/>
                </a:solidFill>
                <a:effectLst>
                  <a:outerShdw blurRad="38100" dist="38100" dir="2700000" algn="tl">
                    <a:srgbClr val="000000">
                      <a:alpha val="43137"/>
                    </a:srgbClr>
                  </a:outerShdw>
                </a:effectLst>
              </a:rPr>
              <a:t>Self-Assessments</a:t>
            </a:r>
            <a:endParaRPr lang="en-US" sz="3600" b="1" i="1" dirty="0">
              <a:solidFill>
                <a:srgbClr val="7030A0"/>
              </a:solidFill>
              <a:effectLst>
                <a:outerShdw blurRad="38100" dist="38100" dir="2700000" algn="tl">
                  <a:srgbClr val="000000">
                    <a:alpha val="43137"/>
                  </a:srgbClr>
                </a:outerShdw>
              </a:effectLst>
            </a:endParaRPr>
          </a:p>
        </p:txBody>
      </p:sp>
      <p:sp>
        <p:nvSpPr>
          <p:cNvPr id="6" name="Content Placeholder 3"/>
          <p:cNvSpPr>
            <a:spLocks noGrp="1"/>
          </p:cNvSpPr>
          <p:nvPr>
            <p:ph sz="half" idx="1"/>
          </p:nvPr>
        </p:nvSpPr>
        <p:spPr>
          <a:xfrm>
            <a:off x="276225" y="1403350"/>
            <a:ext cx="8442325" cy="4845050"/>
          </a:xfrm>
        </p:spPr>
        <p:txBody>
          <a:bodyPr>
            <a:normAutofit lnSpcReduction="10000"/>
          </a:bodyPr>
          <a:lstStyle/>
          <a:p>
            <a:pPr>
              <a:buFont typeface="Wingdings" panose="05000000000000000000" pitchFamily="2" charset="2"/>
              <a:buChar char="§"/>
            </a:pPr>
            <a:r>
              <a:rPr lang="en-US" sz="2000" b="1" i="1" dirty="0" smtClean="0"/>
              <a:t>Mid-Point, Closeout and Annual </a:t>
            </a:r>
            <a:r>
              <a:rPr lang="en-US" sz="2000" b="1" i="1" dirty="0"/>
              <a:t>Appraisal </a:t>
            </a:r>
            <a:r>
              <a:rPr lang="en-US" sz="2000" b="1" i="1" dirty="0" smtClean="0"/>
              <a:t>Self-Assessments </a:t>
            </a:r>
            <a:r>
              <a:rPr lang="en-US" sz="2000" b="1" dirty="0" smtClean="0"/>
              <a:t>are </a:t>
            </a:r>
            <a:r>
              <a:rPr lang="en-US" sz="2000" b="1" dirty="0"/>
              <a:t>meant to document </a:t>
            </a:r>
            <a:r>
              <a:rPr lang="en-US" sz="2000" b="1" dirty="0" smtClean="0"/>
              <a:t>measurable </a:t>
            </a:r>
            <a:r>
              <a:rPr lang="en-US" sz="2000" b="1" dirty="0"/>
              <a:t>results, portray a concise picture of </a:t>
            </a:r>
            <a:r>
              <a:rPr lang="en-US" sz="2000" b="1" dirty="0" smtClean="0"/>
              <a:t>contributions</a:t>
            </a:r>
            <a:r>
              <a:rPr lang="en-US" sz="2000" b="1" dirty="0"/>
              <a:t>, and communicate the </a:t>
            </a:r>
            <a:r>
              <a:rPr lang="en-US" sz="2000" b="1" dirty="0" smtClean="0"/>
              <a:t>impact made </a:t>
            </a:r>
            <a:r>
              <a:rPr lang="en-US" sz="2000" b="1" dirty="0"/>
              <a:t>to </a:t>
            </a:r>
            <a:r>
              <a:rPr lang="en-US" sz="2000" b="1" dirty="0" smtClean="0"/>
              <a:t>the organization’s </a:t>
            </a:r>
            <a:r>
              <a:rPr lang="en-US" sz="2000" b="1" dirty="0"/>
              <a:t>strategic </a:t>
            </a:r>
            <a:r>
              <a:rPr lang="en-US" sz="2000" b="1" dirty="0" smtClean="0"/>
              <a:t>goals</a:t>
            </a:r>
          </a:p>
          <a:p>
            <a:pPr>
              <a:buFont typeface="Wingdings" panose="05000000000000000000" pitchFamily="2" charset="2"/>
              <a:buChar char="§"/>
            </a:pPr>
            <a:endParaRPr lang="en-US" sz="2000" b="1" dirty="0" smtClean="0"/>
          </a:p>
          <a:p>
            <a:pPr>
              <a:buFont typeface="Wingdings" panose="05000000000000000000" pitchFamily="2" charset="2"/>
              <a:buChar char="§"/>
            </a:pPr>
            <a:r>
              <a:rPr lang="en-US" sz="2000" b="1" dirty="0" smtClean="0">
                <a:solidFill>
                  <a:srgbClr val="FF0000"/>
                </a:solidFill>
              </a:rPr>
              <a:t>It’s </a:t>
            </a:r>
            <a:r>
              <a:rPr lang="en-US" sz="2000" b="1" dirty="0">
                <a:solidFill>
                  <a:srgbClr val="FF0000"/>
                </a:solidFill>
              </a:rPr>
              <a:t>best to assume your supervisor doesn’t have a complete picture of all of your most impactful contributions; use your self-assessment to provide </a:t>
            </a:r>
            <a:r>
              <a:rPr lang="en-US" sz="2000" b="1" dirty="0" smtClean="0">
                <a:solidFill>
                  <a:srgbClr val="FF0000"/>
                </a:solidFill>
              </a:rPr>
              <a:t>it</a:t>
            </a:r>
          </a:p>
          <a:p>
            <a:pPr>
              <a:buFont typeface="Wingdings" panose="05000000000000000000" pitchFamily="2" charset="2"/>
              <a:buChar char="§"/>
            </a:pPr>
            <a:endParaRPr lang="en-US" sz="2000" b="1" dirty="0"/>
          </a:p>
          <a:p>
            <a:pPr>
              <a:buFont typeface="Wingdings" panose="05000000000000000000" pitchFamily="2" charset="2"/>
              <a:buChar char="§"/>
            </a:pPr>
            <a:r>
              <a:rPr lang="en-US" sz="2000" b="1" dirty="0" smtClean="0"/>
              <a:t>With </a:t>
            </a:r>
            <a:r>
              <a:rPr lang="en-US" sz="2000" b="1" dirty="0"/>
              <a:t>proper tracking of the contributions you make throughout the year, you can significantly reduce the amount of time needed  to write an effective </a:t>
            </a:r>
            <a:r>
              <a:rPr lang="en-US" sz="2000" b="1" dirty="0" smtClean="0"/>
              <a:t>self-assessment</a:t>
            </a:r>
          </a:p>
          <a:p>
            <a:pPr>
              <a:buFont typeface="Wingdings" panose="05000000000000000000" pitchFamily="2" charset="2"/>
              <a:buChar char="§"/>
            </a:pPr>
            <a:endParaRPr lang="en-US" sz="2000" b="1" dirty="0"/>
          </a:p>
          <a:p>
            <a:pPr>
              <a:buFont typeface="Wingdings" panose="05000000000000000000" pitchFamily="2" charset="2"/>
              <a:buChar char="§"/>
            </a:pPr>
            <a:r>
              <a:rPr lang="en-US" sz="2000" b="1" dirty="0"/>
              <a:t>Your self-assessment need not document every one of your </a:t>
            </a:r>
            <a:r>
              <a:rPr lang="en-US" sz="2000" b="1" dirty="0" smtClean="0"/>
              <a:t>contributions.  However</a:t>
            </a:r>
            <a:r>
              <a:rPr lang="en-US" sz="2000" b="1" dirty="0"/>
              <a:t>, ensure you address items you stated you would accomplish in </a:t>
            </a:r>
            <a:r>
              <a:rPr lang="en-US" sz="2000" b="1" dirty="0" smtClean="0"/>
              <a:t>your </a:t>
            </a:r>
            <a:r>
              <a:rPr lang="en-US" sz="2000" b="1" dirty="0"/>
              <a:t>Contribution </a:t>
            </a:r>
            <a:r>
              <a:rPr lang="en-US" sz="2000" b="1" dirty="0" smtClean="0"/>
              <a:t>Plan</a:t>
            </a:r>
            <a:endParaRPr lang="en-US" sz="2000" b="1" dirty="0"/>
          </a:p>
          <a:p>
            <a:endParaRPr lang="en-US" sz="2000" dirty="0"/>
          </a:p>
        </p:txBody>
      </p:sp>
      <p:sp>
        <p:nvSpPr>
          <p:cNvPr id="4" name="Slide Number Placeholder 3"/>
          <p:cNvSpPr>
            <a:spLocks noGrp="1"/>
          </p:cNvSpPr>
          <p:nvPr>
            <p:ph type="sldNum" sz="quarter" idx="10"/>
          </p:nvPr>
        </p:nvSpPr>
        <p:spPr/>
        <p:txBody>
          <a:bodyPr/>
          <a:lstStyle/>
          <a:p>
            <a:fld id="{6182B678-6FDD-40D4-940F-81891D604945}" type="slidenum">
              <a:rPr lang="en-US" smtClean="0"/>
              <a:pPr/>
              <a:t>8</a:t>
            </a:fld>
            <a:endParaRPr lang="en-US" dirty="0"/>
          </a:p>
        </p:txBody>
      </p:sp>
    </p:spTree>
    <p:extLst>
      <p:ext uri="{BB962C8B-B14F-4D97-AF65-F5344CB8AC3E}">
        <p14:creationId xmlns:p14="http://schemas.microsoft.com/office/powerpoint/2010/main" val="173049553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5615"/>
            <a:ext cx="6934200" cy="1143000"/>
          </a:xfrm>
        </p:spPr>
        <p:txBody>
          <a:bodyPr>
            <a:normAutofit/>
          </a:bodyPr>
          <a:lstStyle/>
          <a:p>
            <a:pPr algn="r"/>
            <a:r>
              <a:rPr lang="en-US" sz="3600" b="1" i="1" dirty="0" smtClean="0">
                <a:solidFill>
                  <a:srgbClr val="7030A0"/>
                </a:solidFill>
                <a:effectLst>
                  <a:outerShdw blurRad="38100" dist="38100" dir="2700000" algn="tl">
                    <a:srgbClr val="000000">
                      <a:alpha val="43137"/>
                    </a:srgbClr>
                  </a:outerShdw>
                </a:effectLst>
              </a:rPr>
              <a:t>Self-Assessments (cont.) </a:t>
            </a:r>
            <a:endParaRPr lang="en-US" sz="3600" b="1" i="1" dirty="0">
              <a:solidFill>
                <a:srgbClr val="7030A0"/>
              </a:solidFill>
              <a:effectLst>
                <a:outerShdw blurRad="38100" dist="38100" dir="2700000" algn="tl">
                  <a:srgbClr val="000000">
                    <a:alpha val="43137"/>
                  </a:srgbClr>
                </a:outerShdw>
              </a:effectLst>
            </a:endParaRPr>
          </a:p>
        </p:txBody>
      </p:sp>
      <p:sp>
        <p:nvSpPr>
          <p:cNvPr id="3" name="Content Placeholder 2"/>
          <p:cNvSpPr>
            <a:spLocks noGrp="1"/>
          </p:cNvSpPr>
          <p:nvPr>
            <p:ph sz="half" idx="1"/>
          </p:nvPr>
        </p:nvSpPr>
        <p:spPr>
          <a:xfrm>
            <a:off x="212430" y="1295400"/>
            <a:ext cx="8474370" cy="4743450"/>
          </a:xfrm>
        </p:spPr>
        <p:txBody>
          <a:bodyPr>
            <a:noAutofit/>
          </a:bodyPr>
          <a:lstStyle/>
          <a:p>
            <a:pPr>
              <a:buFont typeface="Wingdings" panose="05000000000000000000" pitchFamily="2" charset="2"/>
              <a:buChar char="§"/>
            </a:pPr>
            <a:r>
              <a:rPr lang="en-US" sz="2000" b="1" dirty="0" smtClean="0"/>
              <a:t>A </a:t>
            </a:r>
            <a:r>
              <a:rPr lang="en-US" sz="2000" b="1" dirty="0"/>
              <a:t>verbose or disorganized assessment serves only to make the annual appraisal process unnecessarily </a:t>
            </a:r>
            <a:r>
              <a:rPr lang="en-US" sz="2000" b="1" dirty="0" smtClean="0"/>
              <a:t>difficult</a:t>
            </a:r>
          </a:p>
          <a:p>
            <a:pPr marL="0" indent="0">
              <a:buNone/>
            </a:pPr>
            <a:r>
              <a:rPr lang="en-US" sz="2000" b="1" dirty="0" smtClean="0"/>
              <a:t>  </a:t>
            </a:r>
          </a:p>
          <a:p>
            <a:pPr>
              <a:buFont typeface="Wingdings" panose="05000000000000000000" pitchFamily="2" charset="2"/>
              <a:buChar char="§"/>
            </a:pPr>
            <a:r>
              <a:rPr lang="en-US" sz="2000" b="1" u="sng" dirty="0" smtClean="0"/>
              <a:t>There </a:t>
            </a:r>
            <a:r>
              <a:rPr lang="en-US" sz="2000" b="1" u="sng" dirty="0"/>
              <a:t>is an expectation that the routine tasks you’ve accomplished are appropriate for your pay level</a:t>
            </a:r>
            <a:r>
              <a:rPr lang="en-US" sz="2000" b="1" dirty="0"/>
              <a:t>.  Rather, try to concisely </a:t>
            </a:r>
            <a:r>
              <a:rPr lang="en-US" sz="2000" b="1" dirty="0">
                <a:solidFill>
                  <a:srgbClr val="FF0000"/>
                </a:solidFill>
              </a:rPr>
              <a:t>highlight your contributions that had the biggest impact </a:t>
            </a:r>
            <a:r>
              <a:rPr lang="en-US" sz="2000" b="1" dirty="0"/>
              <a:t>on accomplishing the goals of your organization as these are the ones most likely to be valued by the pay </a:t>
            </a:r>
            <a:r>
              <a:rPr lang="en-US" sz="2000" b="1" dirty="0" smtClean="0"/>
              <a:t>pool</a:t>
            </a:r>
          </a:p>
          <a:p>
            <a:pPr>
              <a:buFont typeface="Wingdings" panose="05000000000000000000" pitchFamily="2" charset="2"/>
              <a:buChar char="§"/>
            </a:pPr>
            <a:endParaRPr lang="en-US" sz="2000" b="1" dirty="0" smtClean="0"/>
          </a:p>
          <a:p>
            <a:pPr>
              <a:buFont typeface="Wingdings" panose="05000000000000000000" pitchFamily="2" charset="2"/>
              <a:buChar char="§"/>
            </a:pPr>
            <a:r>
              <a:rPr lang="en-US" sz="2000" b="1" dirty="0" smtClean="0"/>
              <a:t>Each </a:t>
            </a:r>
            <a:r>
              <a:rPr lang="en-US" sz="2000" b="1" dirty="0"/>
              <a:t>factor must be addressed separately</a:t>
            </a:r>
            <a:r>
              <a:rPr lang="en-US" sz="2000" b="1" dirty="0" smtClean="0"/>
              <a:t>.  </a:t>
            </a:r>
            <a:r>
              <a:rPr lang="en-US" sz="2000" b="1" dirty="0"/>
              <a:t>As a first step, for each factor determine which level descriptors best match your contributions.  Be sure to obtain a copy of the factor descriptors for the broadband level to which you are assigned, as well as the levels immediately above and below, before beginning to write a </a:t>
            </a:r>
            <a:r>
              <a:rPr lang="en-US" sz="2000" b="1" dirty="0" smtClean="0"/>
              <a:t>self-assessment</a:t>
            </a:r>
            <a:endParaRPr lang="en-US" sz="2000" b="1" dirty="0"/>
          </a:p>
        </p:txBody>
      </p:sp>
      <p:sp>
        <p:nvSpPr>
          <p:cNvPr id="6" name="Slide Number Placeholder 5"/>
          <p:cNvSpPr>
            <a:spLocks noGrp="1"/>
          </p:cNvSpPr>
          <p:nvPr>
            <p:ph type="sldNum" sz="quarter" idx="10"/>
          </p:nvPr>
        </p:nvSpPr>
        <p:spPr/>
        <p:txBody>
          <a:bodyPr/>
          <a:lstStyle/>
          <a:p>
            <a:fld id="{6182B678-6FDD-40D4-940F-81891D604945}" type="slidenum">
              <a:rPr lang="en-US" smtClean="0"/>
              <a:pPr/>
              <a:t>9</a:t>
            </a:fld>
            <a:endParaRPr lang="en-US" dirty="0"/>
          </a:p>
        </p:txBody>
      </p:sp>
    </p:spTree>
    <p:extLst>
      <p:ext uri="{BB962C8B-B14F-4D97-AF65-F5344CB8AC3E}">
        <p14:creationId xmlns:p14="http://schemas.microsoft.com/office/powerpoint/2010/main" val="177772803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p:cNvSpPr>
            <a:spLocks noGrp="1" noChangeArrowheads="1"/>
          </p:cNvSpPr>
          <p:nvPr>
            <p:ph type="title"/>
          </p:nvPr>
        </p:nvSpPr>
        <p:spPr>
          <a:xfrm>
            <a:off x="1678413" y="28074"/>
            <a:ext cx="7008387" cy="603250"/>
          </a:xfrm>
          <a:prstGeom prst="rect">
            <a:avLst/>
          </a:prstGeom>
        </p:spPr>
        <p:txBody>
          <a:bodyPr>
            <a:noAutofit/>
          </a:bodyPr>
          <a:lstStyle/>
          <a:p>
            <a:pPr algn="r"/>
            <a:r>
              <a:rPr lang="en-US" sz="3600" b="1" i="1" dirty="0" smtClean="0">
                <a:solidFill>
                  <a:srgbClr val="7030A0"/>
                </a:solidFill>
                <a:effectLst>
                  <a:outerShdw blurRad="38100" dist="38100" dir="2700000" algn="tl">
                    <a:srgbClr val="000000">
                      <a:alpha val="43137"/>
                    </a:srgbClr>
                  </a:outerShdw>
                </a:effectLst>
              </a:rPr>
              <a:t>Writing A Self-Assessment</a:t>
            </a:r>
          </a:p>
        </p:txBody>
      </p:sp>
      <p:sp>
        <p:nvSpPr>
          <p:cNvPr id="58370" name="Content Placeholder 15"/>
          <p:cNvSpPr>
            <a:spLocks noGrp="1"/>
          </p:cNvSpPr>
          <p:nvPr>
            <p:ph idx="1"/>
          </p:nvPr>
        </p:nvSpPr>
        <p:spPr>
          <a:xfrm>
            <a:off x="459213" y="1403201"/>
            <a:ext cx="8227587" cy="3253878"/>
          </a:xfrm>
        </p:spPr>
        <p:txBody>
          <a:bodyPr>
            <a:normAutofit/>
          </a:bodyPr>
          <a:lstStyle/>
          <a:p>
            <a:pPr>
              <a:buFont typeface="Wingdings" panose="05000000000000000000" pitchFamily="2" charset="2"/>
              <a:buChar char="§"/>
            </a:pPr>
            <a:r>
              <a:rPr lang="en-US" sz="2800" b="1" dirty="0" smtClean="0"/>
              <a:t>Begin with a named task, followed by results achieved, and ending with impact to the mission of the organization</a:t>
            </a:r>
          </a:p>
          <a:p>
            <a:pPr>
              <a:buFont typeface="Wingdings" panose="05000000000000000000" pitchFamily="2" charset="2"/>
              <a:buChar char="§"/>
            </a:pPr>
            <a:endParaRPr lang="en-US" sz="2800" b="1" dirty="0" smtClean="0"/>
          </a:p>
          <a:p>
            <a:pPr>
              <a:buFont typeface="Wingdings" panose="05000000000000000000" pitchFamily="2" charset="2"/>
              <a:buChar char="§"/>
            </a:pPr>
            <a:r>
              <a:rPr lang="en-US" sz="2800" b="1" dirty="0" smtClean="0"/>
              <a:t>For each assessment statement, make sure it passes the </a:t>
            </a:r>
            <a:r>
              <a:rPr lang="en-US" sz="2800" b="1" dirty="0" smtClean="0">
                <a:solidFill>
                  <a:srgbClr val="7030A0"/>
                </a:solidFill>
              </a:rPr>
              <a:t>“SO WHAT” </a:t>
            </a:r>
            <a:r>
              <a:rPr lang="en-US" sz="2800" b="1" dirty="0" smtClean="0"/>
              <a:t>test</a:t>
            </a:r>
          </a:p>
        </p:txBody>
      </p:sp>
      <p:sp>
        <p:nvSpPr>
          <p:cNvPr id="9" name="TextBox 8"/>
          <p:cNvSpPr txBox="1"/>
          <p:nvPr/>
        </p:nvSpPr>
        <p:spPr>
          <a:xfrm>
            <a:off x="304800" y="4648200"/>
            <a:ext cx="8229600" cy="954107"/>
          </a:xfrm>
          <a:prstGeom prst="rect">
            <a:avLst/>
          </a:prstGeom>
          <a:noFill/>
        </p:spPr>
        <p:txBody>
          <a:bodyPr wrap="square" rtlCol="0">
            <a:spAutoFit/>
          </a:bodyPr>
          <a:lstStyle/>
          <a:p>
            <a:pPr algn="ctr"/>
            <a:r>
              <a:rPr lang="en-US" sz="2800" b="1" i="1" dirty="0" smtClean="0">
                <a:solidFill>
                  <a:srgbClr val="7030A0"/>
                </a:solidFill>
              </a:rPr>
              <a:t>“I Did A that resulted in B, </a:t>
            </a:r>
          </a:p>
          <a:p>
            <a:pPr algn="ctr"/>
            <a:r>
              <a:rPr lang="en-US" sz="2800" b="1" i="1" dirty="0" smtClean="0">
                <a:solidFill>
                  <a:srgbClr val="7030A0"/>
                </a:solidFill>
              </a:rPr>
              <a:t>and the impact of that contribution was C.”</a:t>
            </a:r>
            <a:endParaRPr lang="en-US" sz="2800" b="1" dirty="0" smtClean="0">
              <a:solidFill>
                <a:srgbClr val="7030A0"/>
              </a:solidFill>
            </a:endParaRPr>
          </a:p>
        </p:txBody>
      </p:sp>
      <p:sp>
        <p:nvSpPr>
          <p:cNvPr id="2" name="Slide Number Placeholder 1"/>
          <p:cNvSpPr>
            <a:spLocks noGrp="1"/>
          </p:cNvSpPr>
          <p:nvPr>
            <p:ph type="sldNum" sz="quarter" idx="10"/>
          </p:nvPr>
        </p:nvSpPr>
        <p:spPr/>
        <p:txBody>
          <a:bodyPr/>
          <a:lstStyle/>
          <a:p>
            <a:fld id="{6182B678-6FDD-40D4-940F-81891D604945}" type="slidenum">
              <a:rPr lang="en-US" smtClean="0"/>
              <a:pPr/>
              <a:t>10</a:t>
            </a:fld>
            <a:endParaRPr lang="en-US" dirty="0"/>
          </a:p>
        </p:txBody>
      </p:sp>
    </p:spTree>
    <p:extLst>
      <p:ext uri="{BB962C8B-B14F-4D97-AF65-F5344CB8AC3E}">
        <p14:creationId xmlns:p14="http://schemas.microsoft.com/office/powerpoint/2010/main" val="266376915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685800" y="990600"/>
            <a:ext cx="7772400" cy="1470025"/>
          </a:xfrm>
          <a:prstGeom prst="rect">
            <a:avLst/>
          </a:prstGeom>
        </p:spPr>
        <p:txBody>
          <a:bodyPr>
            <a:noAutofit/>
          </a:bodyPr>
          <a:lstStyle/>
          <a:p>
            <a:r>
              <a:rPr lang="en-US" sz="5400" b="1" i="1" dirty="0" smtClean="0">
                <a:solidFill>
                  <a:srgbClr val="002060"/>
                </a:solidFill>
                <a:effectLst>
                  <a:outerShdw blurRad="38100" dist="38100" dir="2700000" algn="tl">
                    <a:srgbClr val="000000">
                      <a:alpha val="43137"/>
                    </a:srgbClr>
                  </a:outerShdw>
                </a:effectLst>
              </a:rPr>
              <a:t/>
            </a:r>
            <a:br>
              <a:rPr lang="en-US" sz="5400" b="1" i="1" dirty="0" smtClean="0">
                <a:solidFill>
                  <a:srgbClr val="002060"/>
                </a:solidFill>
                <a:effectLst>
                  <a:outerShdw blurRad="38100" dist="38100" dir="2700000" algn="tl">
                    <a:srgbClr val="000000">
                      <a:alpha val="43137"/>
                    </a:srgbClr>
                  </a:outerShdw>
                </a:effectLst>
              </a:rPr>
            </a:br>
            <a:r>
              <a:rPr lang="en-US" sz="4800" b="1" i="1" dirty="0" smtClean="0">
                <a:solidFill>
                  <a:srgbClr val="7030A0"/>
                </a:solidFill>
                <a:effectLst>
                  <a:outerShdw blurRad="38100" dist="38100" dir="2700000" algn="tl">
                    <a:srgbClr val="000000">
                      <a:alpha val="43137"/>
                    </a:srgbClr>
                  </a:outerShdw>
                </a:effectLst>
              </a:rPr>
              <a:t>Mandatory Self-Assessment Writing Method</a:t>
            </a:r>
            <a:br>
              <a:rPr lang="en-US" sz="4800" b="1" i="1" dirty="0" smtClean="0">
                <a:solidFill>
                  <a:srgbClr val="7030A0"/>
                </a:solidFill>
                <a:effectLst>
                  <a:outerShdw blurRad="38100" dist="38100" dir="2700000" algn="tl">
                    <a:srgbClr val="000000">
                      <a:alpha val="43137"/>
                    </a:srgbClr>
                  </a:outerShdw>
                </a:effectLst>
              </a:rPr>
            </a:br>
            <a:r>
              <a:rPr lang="en-US" sz="4800" b="1" i="1" dirty="0">
                <a:solidFill>
                  <a:srgbClr val="7030A0"/>
                </a:solidFill>
                <a:effectLst>
                  <a:outerShdw blurRad="38100" dist="38100" dir="2700000" algn="tl">
                    <a:srgbClr val="000000">
                      <a:alpha val="43137"/>
                    </a:srgbClr>
                  </a:outerShdw>
                </a:effectLst>
              </a:rPr>
              <a:t/>
            </a:r>
            <a:br>
              <a:rPr lang="en-US" sz="4800" b="1" i="1" dirty="0">
                <a:solidFill>
                  <a:srgbClr val="7030A0"/>
                </a:solidFill>
                <a:effectLst>
                  <a:outerShdw blurRad="38100" dist="38100" dir="2700000" algn="tl">
                    <a:srgbClr val="000000">
                      <a:alpha val="43137"/>
                    </a:srgbClr>
                  </a:outerShdw>
                </a:effectLst>
              </a:rPr>
            </a:br>
            <a:r>
              <a:rPr lang="en-US" sz="4000" b="1" i="1" dirty="0" smtClean="0">
                <a:solidFill>
                  <a:srgbClr val="7030A0"/>
                </a:solidFill>
                <a:effectLst>
                  <a:outerShdw blurRad="38100" dist="38100" dir="2700000" algn="tl">
                    <a:srgbClr val="000000">
                      <a:alpha val="43137"/>
                    </a:srgbClr>
                  </a:outerShdw>
                </a:effectLst>
              </a:rPr>
              <a:t>(Mid-Point and Annual)</a:t>
            </a:r>
            <a:r>
              <a:rPr lang="en-US" sz="5400" b="1" i="1" dirty="0">
                <a:solidFill>
                  <a:srgbClr val="7030A0"/>
                </a:solidFill>
                <a:effectLst>
                  <a:outerShdw blurRad="38100" dist="38100" dir="2700000" algn="tl">
                    <a:srgbClr val="000000">
                      <a:alpha val="43137"/>
                    </a:srgbClr>
                  </a:outerShdw>
                </a:effectLst>
              </a:rPr>
              <a:t/>
            </a:r>
            <a:br>
              <a:rPr lang="en-US" sz="5400" b="1" i="1" dirty="0">
                <a:solidFill>
                  <a:srgbClr val="7030A0"/>
                </a:solidFill>
                <a:effectLst>
                  <a:outerShdw blurRad="38100" dist="38100" dir="2700000" algn="tl">
                    <a:srgbClr val="000000">
                      <a:alpha val="43137"/>
                    </a:srgbClr>
                  </a:outerShdw>
                </a:effectLst>
              </a:rPr>
            </a:br>
            <a:endParaRPr lang="en-US" sz="5400" b="1" i="1" dirty="0">
              <a:solidFill>
                <a:srgbClr val="7030A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07358885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5638" y="0"/>
            <a:ext cx="6705600" cy="1143000"/>
          </a:xfrm>
        </p:spPr>
        <p:txBody>
          <a:bodyPr>
            <a:noAutofit/>
          </a:bodyPr>
          <a:lstStyle/>
          <a:p>
            <a:pPr algn="r"/>
            <a:r>
              <a:rPr lang="en-US" sz="3600" b="1" i="1" dirty="0" smtClean="0">
                <a:solidFill>
                  <a:srgbClr val="7030A0"/>
                </a:solidFill>
                <a:effectLst>
                  <a:outerShdw blurRad="38100" dist="38100" dir="2700000" algn="tl">
                    <a:srgbClr val="000000">
                      <a:alpha val="43137"/>
                    </a:srgbClr>
                  </a:outerShdw>
                </a:effectLst>
              </a:rPr>
              <a:t>Mandatory Self Assessment</a:t>
            </a:r>
            <a:r>
              <a:rPr lang="en-US" sz="3600" b="1" i="1" dirty="0">
                <a:solidFill>
                  <a:srgbClr val="7030A0"/>
                </a:solidFill>
                <a:effectLst>
                  <a:outerShdw blurRad="38100" dist="38100" dir="2700000" algn="tl">
                    <a:srgbClr val="000000">
                      <a:alpha val="43137"/>
                    </a:srgbClr>
                  </a:outerShdw>
                </a:effectLst>
              </a:rPr>
              <a:t> </a:t>
            </a:r>
            <a:r>
              <a:rPr lang="en-US" sz="3600" b="1" i="1" dirty="0" smtClean="0">
                <a:solidFill>
                  <a:srgbClr val="7030A0"/>
                </a:solidFill>
                <a:effectLst>
                  <a:outerShdw blurRad="38100" dist="38100" dir="2700000" algn="tl">
                    <a:srgbClr val="000000">
                      <a:alpha val="43137"/>
                    </a:srgbClr>
                  </a:outerShdw>
                </a:effectLst>
              </a:rPr>
              <a:t>Writing Method</a:t>
            </a:r>
            <a:endParaRPr lang="en-US" sz="3600" b="1" i="1" dirty="0">
              <a:solidFill>
                <a:srgbClr val="7030A0"/>
              </a:solidFill>
              <a:effectLst>
                <a:outerShdw blurRad="38100" dist="38100" dir="2700000" algn="tl">
                  <a:srgbClr val="000000">
                    <a:alpha val="43137"/>
                  </a:srgbClr>
                </a:outerShdw>
              </a:effectLst>
            </a:endParaRPr>
          </a:p>
        </p:txBody>
      </p:sp>
      <p:sp>
        <p:nvSpPr>
          <p:cNvPr id="3" name="Content Placeholder 2"/>
          <p:cNvSpPr>
            <a:spLocks noGrp="1"/>
          </p:cNvSpPr>
          <p:nvPr>
            <p:ph sz="half" idx="1"/>
          </p:nvPr>
        </p:nvSpPr>
        <p:spPr>
          <a:xfrm>
            <a:off x="457200" y="1268961"/>
            <a:ext cx="8562975" cy="5105400"/>
          </a:xfrm>
        </p:spPr>
        <p:txBody>
          <a:bodyPr>
            <a:noAutofit/>
          </a:bodyPr>
          <a:lstStyle/>
          <a:p>
            <a:pPr marL="0" indent="0" algn="ctr">
              <a:buNone/>
            </a:pPr>
            <a:endParaRPr lang="en-US" b="1" dirty="0">
              <a:solidFill>
                <a:srgbClr val="FF0000"/>
              </a:solidFill>
            </a:endParaRPr>
          </a:p>
          <a:p>
            <a:pPr marL="0" indent="0" algn="ctr">
              <a:buNone/>
            </a:pPr>
            <a:r>
              <a:rPr lang="en-US" sz="3500" b="1" dirty="0" smtClean="0">
                <a:solidFill>
                  <a:srgbClr val="FF0000"/>
                </a:solidFill>
              </a:rPr>
              <a:t>  What – Result – Impact (WRI)</a:t>
            </a:r>
          </a:p>
          <a:p>
            <a:pPr marL="0" indent="0" algn="ctr">
              <a:buNone/>
            </a:pPr>
            <a:endParaRPr lang="en-US" sz="3500" b="1" dirty="0" smtClean="0">
              <a:solidFill>
                <a:srgbClr val="FF0000"/>
              </a:solidFill>
            </a:endParaRPr>
          </a:p>
          <a:p>
            <a:pPr>
              <a:buFont typeface="Wingdings" panose="05000000000000000000" pitchFamily="2" charset="2"/>
              <a:buChar char="§"/>
            </a:pPr>
            <a:r>
              <a:rPr lang="en-US" sz="2400" b="1" dirty="0"/>
              <a:t>Write a minimum of three W-R-I Statements for each factor for the </a:t>
            </a:r>
            <a:r>
              <a:rPr lang="en-US" sz="2400" b="1" u="sng" dirty="0"/>
              <a:t>annual appraisal</a:t>
            </a:r>
            <a:r>
              <a:rPr lang="en-US" sz="2400" b="1" dirty="0"/>
              <a:t>.  You will be rated on each factor </a:t>
            </a:r>
            <a:r>
              <a:rPr lang="en-US" sz="2400" b="1" dirty="0" smtClean="0"/>
              <a:t>individually</a:t>
            </a:r>
            <a:endParaRPr lang="en-US" sz="2400" b="1" dirty="0"/>
          </a:p>
          <a:p>
            <a:pPr>
              <a:buFont typeface="Wingdings" panose="05000000000000000000" pitchFamily="2" charset="2"/>
              <a:buChar char="§"/>
            </a:pPr>
            <a:r>
              <a:rPr lang="en-US" sz="2400" b="1" dirty="0" smtClean="0"/>
              <a:t>Employees use this format to address self assessment comments</a:t>
            </a:r>
          </a:p>
          <a:p>
            <a:pPr>
              <a:buFont typeface="Wingdings" panose="05000000000000000000" pitchFamily="2" charset="2"/>
              <a:buChar char="§"/>
            </a:pPr>
            <a:r>
              <a:rPr lang="en-US" sz="2400" b="1" dirty="0" smtClean="0"/>
              <a:t>Not required for supervisor annual assessment</a:t>
            </a:r>
            <a:endParaRPr lang="en-US" sz="2800" dirty="0" smtClean="0"/>
          </a:p>
          <a:p>
            <a:pPr lvl="2"/>
            <a:endParaRPr lang="en-US" sz="2800" dirty="0" smtClean="0"/>
          </a:p>
        </p:txBody>
      </p:sp>
      <p:sp>
        <p:nvSpPr>
          <p:cNvPr id="6" name="Slide Number Placeholder 5"/>
          <p:cNvSpPr>
            <a:spLocks noGrp="1"/>
          </p:cNvSpPr>
          <p:nvPr>
            <p:ph type="sldNum" sz="quarter" idx="10"/>
          </p:nvPr>
        </p:nvSpPr>
        <p:spPr/>
        <p:txBody>
          <a:bodyPr/>
          <a:lstStyle/>
          <a:p>
            <a:fld id="{6182B678-6FDD-40D4-940F-81891D604945}" type="slidenum">
              <a:rPr lang="en-US" smtClean="0"/>
              <a:pPr/>
              <a:t>12</a:t>
            </a:fld>
            <a:endParaRPr lang="en-US" dirty="0"/>
          </a:p>
        </p:txBody>
      </p:sp>
    </p:spTree>
    <p:extLst>
      <p:ext uri="{BB962C8B-B14F-4D97-AF65-F5344CB8AC3E}">
        <p14:creationId xmlns:p14="http://schemas.microsoft.com/office/powerpoint/2010/main" val="24716854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0"/>
            <a:ext cx="7011569" cy="603250"/>
          </a:xfrm>
          <a:prstGeom prst="rect">
            <a:avLst/>
          </a:prstGeom>
        </p:spPr>
        <p:txBody>
          <a:bodyPr>
            <a:noAutofit/>
          </a:bodyPr>
          <a:lstStyle/>
          <a:p>
            <a:pPr algn="r"/>
            <a:r>
              <a:rPr lang="en-US" sz="3600" b="1" i="1" dirty="0" smtClean="0">
                <a:solidFill>
                  <a:srgbClr val="7030A0"/>
                </a:solidFill>
                <a:effectLst>
                  <a:outerShdw blurRad="38100" dist="38100" dir="2700000" algn="tl">
                    <a:srgbClr val="000000">
                      <a:alpha val="43137"/>
                    </a:srgbClr>
                  </a:outerShdw>
                </a:effectLst>
                <a:ea typeface="Tahoma" pitchFamily="34" charset="0"/>
                <a:cs typeface="Tahoma" pitchFamily="34" charset="0"/>
              </a:rPr>
              <a:t>Self-Assessment Writing Method</a:t>
            </a:r>
            <a:endParaRPr lang="en-US" sz="3600" b="1" i="1" dirty="0">
              <a:solidFill>
                <a:srgbClr val="7030A0"/>
              </a:solidFill>
              <a:effectLst>
                <a:outerShdw blurRad="38100" dist="38100" dir="2700000" algn="tl">
                  <a:srgbClr val="000000">
                    <a:alpha val="43137"/>
                  </a:srgbClr>
                </a:outerShdw>
              </a:effectLst>
              <a:ea typeface="Tahoma" pitchFamily="34" charset="0"/>
              <a:cs typeface="Tahoma" pitchFamily="34" charset="0"/>
            </a:endParaRPr>
          </a:p>
        </p:txBody>
      </p:sp>
      <p:sp>
        <p:nvSpPr>
          <p:cNvPr id="11" name="Text Box 11"/>
          <p:cNvSpPr txBox="1">
            <a:spLocks noChangeArrowheads="1"/>
          </p:cNvSpPr>
          <p:nvPr/>
        </p:nvSpPr>
        <p:spPr bwMode="auto">
          <a:xfrm>
            <a:off x="466097" y="1230373"/>
            <a:ext cx="8077200" cy="4154984"/>
          </a:xfrm>
          <a:prstGeom prst="rect">
            <a:avLst/>
          </a:prstGeom>
          <a:noFill/>
          <a:ln w="9525">
            <a:noFill/>
            <a:miter lim="800000"/>
            <a:headEnd/>
            <a:tailEnd/>
          </a:ln>
        </p:spPr>
        <p:txBody>
          <a:bodyPr wrap="square" anchor="ctr">
            <a:spAutoFit/>
          </a:bodyPr>
          <a:lstStyle/>
          <a:p>
            <a:pPr marL="400050" indent="-400050">
              <a:buFont typeface="Wingdings" panose="05000000000000000000" pitchFamily="2" charset="2"/>
              <a:buChar char="§"/>
            </a:pPr>
            <a:r>
              <a:rPr lang="en-US" sz="2400" b="1" dirty="0" smtClean="0"/>
              <a:t>Identify </a:t>
            </a:r>
            <a:r>
              <a:rPr lang="en-US" sz="2400" b="1" dirty="0"/>
              <a:t>the </a:t>
            </a:r>
            <a:r>
              <a:rPr lang="en-US" sz="2400" b="1" dirty="0" smtClean="0">
                <a:solidFill>
                  <a:srgbClr val="FF0000"/>
                </a:solidFill>
              </a:rPr>
              <a:t>what </a:t>
            </a:r>
            <a:r>
              <a:rPr lang="en-US" sz="2400" b="1" dirty="0" smtClean="0"/>
              <a:t>to </a:t>
            </a:r>
            <a:r>
              <a:rPr lang="en-US" sz="2400" b="1" dirty="0"/>
              <a:t>be addressed and make an </a:t>
            </a:r>
            <a:r>
              <a:rPr lang="en-US" sz="2400" b="1" i="1" dirty="0"/>
              <a:t>accomplishment</a:t>
            </a:r>
            <a:r>
              <a:rPr lang="en-US" sz="2400" b="1" dirty="0"/>
              <a:t> </a:t>
            </a:r>
            <a:r>
              <a:rPr lang="en-US" sz="2400" b="1" dirty="0" smtClean="0"/>
              <a:t>statement; the </a:t>
            </a:r>
            <a:r>
              <a:rPr lang="en-US" sz="2400" b="1" kern="0" dirty="0" smtClean="0"/>
              <a:t>task</a:t>
            </a:r>
            <a:r>
              <a:rPr lang="en-US" sz="2400" b="1" kern="0" dirty="0"/>
              <a:t>, project, test, analysis, report, timecard, calendar</a:t>
            </a:r>
            <a:endParaRPr lang="en-US" sz="2400" b="1" dirty="0" smtClean="0"/>
          </a:p>
          <a:p>
            <a:pPr marL="400050" indent="-400050">
              <a:buFont typeface="Wingdings" panose="05000000000000000000" pitchFamily="2" charset="2"/>
              <a:buChar char="§"/>
            </a:pPr>
            <a:endParaRPr lang="en-US" sz="2400" b="1" dirty="0" smtClean="0"/>
          </a:p>
          <a:p>
            <a:pPr marL="400050" indent="-400050">
              <a:buFont typeface="Wingdings" panose="05000000000000000000" pitchFamily="2" charset="2"/>
              <a:buChar char="§"/>
            </a:pPr>
            <a:r>
              <a:rPr lang="en-US" sz="2400" b="1" dirty="0" smtClean="0"/>
              <a:t>Document the </a:t>
            </a:r>
            <a:r>
              <a:rPr lang="en-US" sz="2400" b="1" dirty="0" smtClean="0">
                <a:solidFill>
                  <a:srgbClr val="FF0000"/>
                </a:solidFill>
              </a:rPr>
              <a:t>result</a:t>
            </a:r>
            <a:r>
              <a:rPr lang="en-US" sz="2400" b="1" dirty="0" smtClean="0"/>
              <a:t>.  Provide the quality, quantity, cost/budget, and timeliness details; be specific</a:t>
            </a:r>
          </a:p>
          <a:p>
            <a:pPr marL="400050" indent="-400050">
              <a:buFont typeface="Wingdings" panose="05000000000000000000" pitchFamily="2" charset="2"/>
              <a:buChar char="§"/>
            </a:pPr>
            <a:endParaRPr lang="en-US" sz="2400" b="1" dirty="0" smtClean="0"/>
          </a:p>
          <a:p>
            <a:pPr marL="400050" indent="-400050">
              <a:buFont typeface="Wingdings" panose="05000000000000000000" pitchFamily="2" charset="2"/>
              <a:buChar char="§"/>
            </a:pPr>
            <a:r>
              <a:rPr lang="en-US" sz="2400" b="1" dirty="0" smtClean="0"/>
              <a:t>Provide scope and scale of the </a:t>
            </a:r>
            <a:r>
              <a:rPr lang="en-US" sz="2400" b="1" dirty="0" smtClean="0">
                <a:solidFill>
                  <a:srgbClr val="FF0000"/>
                </a:solidFill>
              </a:rPr>
              <a:t>impact</a:t>
            </a:r>
            <a:r>
              <a:rPr lang="en-US" sz="2400" b="1" dirty="0" smtClean="0"/>
              <a:t> that the contribution has on the mission; why did it matter</a:t>
            </a:r>
          </a:p>
          <a:p>
            <a:pPr marL="400050" indent="-400050">
              <a:buFont typeface="Wingdings" panose="05000000000000000000" pitchFamily="2" charset="2"/>
              <a:buChar char="§"/>
            </a:pPr>
            <a:endParaRPr lang="en-US" sz="2400" b="1" dirty="0" smtClean="0"/>
          </a:p>
          <a:p>
            <a:pPr marL="400050" indent="-400050">
              <a:buFont typeface="Wingdings" panose="05000000000000000000" pitchFamily="2" charset="2"/>
              <a:buChar char="§"/>
            </a:pPr>
            <a:r>
              <a:rPr lang="en-US" sz="2400" b="1" dirty="0" smtClean="0"/>
              <a:t>Provide this for each of the three factors</a:t>
            </a:r>
            <a:endParaRPr lang="en-US" sz="2400" b="1" dirty="0"/>
          </a:p>
        </p:txBody>
      </p:sp>
      <p:sp>
        <p:nvSpPr>
          <p:cNvPr id="6" name="Rectangle 5"/>
          <p:cNvSpPr/>
          <p:nvPr/>
        </p:nvSpPr>
        <p:spPr>
          <a:xfrm>
            <a:off x="1600200" y="5645886"/>
            <a:ext cx="1371600" cy="4050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chemeClr val="tx1"/>
                </a:solidFill>
              </a:rPr>
              <a:t>Job Achievement &amp;/or Innovation</a:t>
            </a:r>
            <a:endParaRPr lang="en-US" sz="1200" b="1" dirty="0">
              <a:solidFill>
                <a:schemeClr val="tx1"/>
              </a:solidFill>
            </a:endParaRPr>
          </a:p>
        </p:txBody>
      </p:sp>
      <p:sp>
        <p:nvSpPr>
          <p:cNvPr id="7" name="Rectangle 6"/>
          <p:cNvSpPr/>
          <p:nvPr/>
        </p:nvSpPr>
        <p:spPr>
          <a:xfrm>
            <a:off x="3818897" y="5645886"/>
            <a:ext cx="1371600" cy="4050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chemeClr val="tx1"/>
                </a:solidFill>
              </a:rPr>
              <a:t>Mission Support</a:t>
            </a:r>
            <a:endParaRPr lang="en-US" sz="1200" b="1" dirty="0">
              <a:solidFill>
                <a:schemeClr val="tx1"/>
              </a:solidFill>
            </a:endParaRPr>
          </a:p>
        </p:txBody>
      </p:sp>
      <p:sp>
        <p:nvSpPr>
          <p:cNvPr id="8" name="Rectangle 7"/>
          <p:cNvSpPr/>
          <p:nvPr/>
        </p:nvSpPr>
        <p:spPr>
          <a:xfrm>
            <a:off x="5791200" y="5646247"/>
            <a:ext cx="1371600" cy="4050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chemeClr val="tx1"/>
                </a:solidFill>
              </a:rPr>
              <a:t>Communication &amp;/or Teamwork</a:t>
            </a:r>
            <a:endParaRPr lang="en-US" sz="1200" b="1" dirty="0">
              <a:solidFill>
                <a:schemeClr val="tx1"/>
              </a:solidFill>
            </a:endParaRPr>
          </a:p>
        </p:txBody>
      </p:sp>
    </p:spTree>
    <p:extLst>
      <p:ext uri="{BB962C8B-B14F-4D97-AF65-F5344CB8AC3E}">
        <p14:creationId xmlns:p14="http://schemas.microsoft.com/office/powerpoint/2010/main" val="1598237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title"/>
          </p:nvPr>
        </p:nvSpPr>
        <p:spPr>
          <a:xfrm>
            <a:off x="1524000" y="0"/>
            <a:ext cx="7162800" cy="620712"/>
          </a:xfrm>
        </p:spPr>
        <p:txBody>
          <a:bodyPr>
            <a:noAutofit/>
          </a:bodyPr>
          <a:lstStyle/>
          <a:p>
            <a:pPr algn="r"/>
            <a:r>
              <a:rPr lang="en-US" sz="3600" b="1" i="1" dirty="0" smtClean="0">
                <a:solidFill>
                  <a:srgbClr val="7030A0"/>
                </a:solidFill>
                <a:effectLst>
                  <a:outerShdw blurRad="38100" dist="38100" dir="2700000" algn="tl">
                    <a:srgbClr val="000000">
                      <a:alpha val="43137"/>
                    </a:srgbClr>
                  </a:outerShdw>
                </a:effectLst>
              </a:rPr>
              <a:t>Writing </a:t>
            </a:r>
            <a:r>
              <a:rPr lang="en-US" sz="3600" b="1" i="1" dirty="0">
                <a:solidFill>
                  <a:srgbClr val="7030A0"/>
                </a:solidFill>
                <a:effectLst>
                  <a:outerShdw blurRad="38100" dist="38100" dir="2700000" algn="tl">
                    <a:srgbClr val="000000">
                      <a:alpha val="43137"/>
                    </a:srgbClr>
                  </a:outerShdw>
                </a:effectLst>
              </a:rPr>
              <a:t>A</a:t>
            </a:r>
            <a:r>
              <a:rPr lang="en-US" sz="3600" b="1" i="1" dirty="0" smtClean="0">
                <a:solidFill>
                  <a:srgbClr val="7030A0"/>
                </a:solidFill>
                <a:effectLst>
                  <a:outerShdw blurRad="38100" dist="38100" dir="2700000" algn="tl">
                    <a:srgbClr val="000000">
                      <a:alpha val="43137"/>
                    </a:srgbClr>
                  </a:outerShdw>
                </a:effectLst>
              </a:rPr>
              <a:t> Self-Assessment</a:t>
            </a:r>
          </a:p>
        </p:txBody>
      </p:sp>
      <p:sp>
        <p:nvSpPr>
          <p:cNvPr id="36868" name="Rectangle 3"/>
          <p:cNvSpPr>
            <a:spLocks noGrp="1" noChangeArrowheads="1"/>
          </p:cNvSpPr>
          <p:nvPr>
            <p:ph type="body" sz="half" idx="1"/>
          </p:nvPr>
        </p:nvSpPr>
        <p:spPr>
          <a:xfrm>
            <a:off x="457200" y="1143000"/>
            <a:ext cx="8229600" cy="5060950"/>
          </a:xfrm>
          <a:ln>
            <a:noFill/>
          </a:ln>
        </p:spPr>
        <p:txBody>
          <a:bodyPr>
            <a:noAutofit/>
          </a:bodyPr>
          <a:lstStyle/>
          <a:p>
            <a:pPr>
              <a:spcBef>
                <a:spcPct val="40000"/>
              </a:spcBef>
              <a:buFont typeface="Wingdings" panose="05000000000000000000" pitchFamily="2" charset="2"/>
              <a:buChar char="§"/>
            </a:pPr>
            <a:r>
              <a:rPr lang="en-US" sz="2400" b="1" dirty="0" smtClean="0"/>
              <a:t>Make the connection between what was done and why that should matter to the organization</a:t>
            </a:r>
          </a:p>
          <a:p>
            <a:pPr>
              <a:spcBef>
                <a:spcPct val="40000"/>
              </a:spcBef>
              <a:buFont typeface="Wingdings" panose="05000000000000000000" pitchFamily="2" charset="2"/>
              <a:buChar char="§"/>
            </a:pPr>
            <a:r>
              <a:rPr lang="en-US" sz="2400" b="1" dirty="0" smtClean="0"/>
              <a:t>Note challenges that were encountered and how they were handled</a:t>
            </a:r>
          </a:p>
          <a:p>
            <a:pPr>
              <a:buFont typeface="Wingdings" panose="05000000000000000000" pitchFamily="2" charset="2"/>
              <a:buChar char="§"/>
              <a:defRPr/>
            </a:pPr>
            <a:r>
              <a:rPr lang="en-US" sz="2400" b="1" dirty="0" smtClean="0"/>
              <a:t>Be </a:t>
            </a:r>
            <a:r>
              <a:rPr lang="en-US" sz="2400" b="1" dirty="0"/>
              <a:t>specific (use dollar figures, program names, time saved, percentages, etc.)</a:t>
            </a:r>
          </a:p>
          <a:p>
            <a:pPr>
              <a:buFont typeface="Wingdings" panose="05000000000000000000" pitchFamily="2" charset="2"/>
              <a:buChar char="§"/>
              <a:defRPr/>
            </a:pPr>
            <a:r>
              <a:rPr lang="en-US" sz="2400" b="1" dirty="0"/>
              <a:t>Provide scope and scale of the impact that the contribution has on the </a:t>
            </a:r>
            <a:r>
              <a:rPr lang="en-US" sz="2400" b="1" dirty="0" smtClean="0"/>
              <a:t>mission</a:t>
            </a:r>
          </a:p>
          <a:p>
            <a:pPr>
              <a:buFont typeface="Wingdings" panose="05000000000000000000" pitchFamily="2" charset="2"/>
              <a:buChar char="§"/>
              <a:defRPr/>
            </a:pPr>
            <a:r>
              <a:rPr lang="en-US" sz="2400" b="1" dirty="0" smtClean="0"/>
              <a:t>Use the factor descriptors and discriminators</a:t>
            </a:r>
          </a:p>
          <a:p>
            <a:pPr marL="0" indent="0" algn="ctr">
              <a:buNone/>
              <a:defRPr/>
            </a:pPr>
            <a:endParaRPr lang="en-US" sz="2400" b="1" i="1" dirty="0">
              <a:solidFill>
                <a:srgbClr val="FF0000"/>
              </a:solidFill>
            </a:endParaRPr>
          </a:p>
          <a:p>
            <a:pPr marL="0" indent="0" algn="ctr">
              <a:buNone/>
              <a:defRPr/>
            </a:pPr>
            <a:r>
              <a:rPr lang="en-US" sz="2400" b="1" i="1" dirty="0" smtClean="0">
                <a:solidFill>
                  <a:srgbClr val="FF0000"/>
                </a:solidFill>
              </a:rPr>
              <a:t>WHAT </a:t>
            </a:r>
            <a:r>
              <a:rPr lang="en-US" sz="2400" b="1" i="1" dirty="0">
                <a:solidFill>
                  <a:srgbClr val="FF0000"/>
                </a:solidFill>
              </a:rPr>
              <a:t>– RESULT – IMPACT</a:t>
            </a:r>
          </a:p>
          <a:p>
            <a:pPr>
              <a:spcBef>
                <a:spcPct val="40000"/>
              </a:spcBef>
            </a:pPr>
            <a:endParaRPr lang="en-US" sz="2400" dirty="0" smtClean="0"/>
          </a:p>
          <a:p>
            <a:pPr>
              <a:spcBef>
                <a:spcPct val="40000"/>
              </a:spcBef>
            </a:pPr>
            <a:endParaRPr lang="en-US" sz="2400" dirty="0" smtClean="0"/>
          </a:p>
        </p:txBody>
      </p:sp>
      <p:sp>
        <p:nvSpPr>
          <p:cNvPr id="3" name="Slide Number Placeholder 2"/>
          <p:cNvSpPr>
            <a:spLocks noGrp="1"/>
          </p:cNvSpPr>
          <p:nvPr>
            <p:ph type="sldNum" sz="quarter" idx="10"/>
          </p:nvPr>
        </p:nvSpPr>
        <p:spPr/>
        <p:txBody>
          <a:bodyPr/>
          <a:lstStyle/>
          <a:p>
            <a:fld id="{6182B678-6FDD-40D4-940F-81891D604945}" type="slidenum">
              <a:rPr lang="en-US" smtClean="0"/>
              <a:pPr/>
              <a:t>14</a:t>
            </a:fld>
            <a:endParaRPr lang="en-US" dirty="0"/>
          </a:p>
        </p:txBody>
      </p:sp>
    </p:spTree>
    <p:extLst>
      <p:ext uri="{BB962C8B-B14F-4D97-AF65-F5344CB8AC3E}">
        <p14:creationId xmlns:p14="http://schemas.microsoft.com/office/powerpoint/2010/main" val="340926784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0"/>
            <a:ext cx="6934200" cy="1143000"/>
          </a:xfrm>
        </p:spPr>
        <p:txBody>
          <a:bodyPr>
            <a:noAutofit/>
          </a:bodyPr>
          <a:lstStyle/>
          <a:p>
            <a:pPr algn="r"/>
            <a:r>
              <a:rPr lang="en-US" sz="3600" b="1" i="1" dirty="0" smtClean="0">
                <a:solidFill>
                  <a:srgbClr val="7030A0"/>
                </a:solidFill>
                <a:effectLst>
                  <a:outerShdw blurRad="38100" dist="38100" dir="2700000" algn="tl">
                    <a:srgbClr val="000000">
                      <a:alpha val="43137"/>
                    </a:srgbClr>
                  </a:outerShdw>
                </a:effectLst>
              </a:rPr>
              <a:t>Effective W-R-I Examples</a:t>
            </a:r>
            <a:br>
              <a:rPr lang="en-US" sz="3600" b="1" i="1" dirty="0" smtClean="0">
                <a:solidFill>
                  <a:srgbClr val="7030A0"/>
                </a:solidFill>
                <a:effectLst>
                  <a:outerShdw blurRad="38100" dist="38100" dir="2700000" algn="tl">
                    <a:srgbClr val="000000">
                      <a:alpha val="43137"/>
                    </a:srgbClr>
                  </a:outerShdw>
                </a:effectLst>
              </a:rPr>
            </a:br>
            <a:r>
              <a:rPr lang="en-US" sz="3600" b="1" i="1" dirty="0" smtClean="0">
                <a:solidFill>
                  <a:srgbClr val="7030A0"/>
                </a:solidFill>
                <a:effectLst>
                  <a:outerShdw blurRad="38100" dist="38100" dir="2700000" algn="tl">
                    <a:srgbClr val="000000">
                      <a:alpha val="43137"/>
                    </a:srgbClr>
                  </a:outerShdw>
                </a:effectLst>
              </a:rPr>
              <a:t>NH-III</a:t>
            </a:r>
            <a:r>
              <a:rPr lang="en-US" sz="3600" b="1" i="1" dirty="0">
                <a:effectLst>
                  <a:outerShdw blurRad="38100" dist="38100" dir="2700000" algn="tl">
                    <a:srgbClr val="000000">
                      <a:alpha val="43137"/>
                    </a:srgbClr>
                  </a:outerShdw>
                </a:effectLst>
              </a:rPr>
              <a:t/>
            </a:r>
            <a:br>
              <a:rPr lang="en-US" sz="3600" b="1" i="1" dirty="0">
                <a:effectLst>
                  <a:outerShdw blurRad="38100" dist="38100" dir="2700000" algn="tl">
                    <a:srgbClr val="000000">
                      <a:alpha val="43137"/>
                    </a:srgbClr>
                  </a:outerShdw>
                </a:effectLst>
              </a:rPr>
            </a:br>
            <a:endParaRPr lang="en-US" sz="3600" b="1" i="1" dirty="0">
              <a:solidFill>
                <a:srgbClr val="7030A0"/>
              </a:solidFill>
              <a:effectLst>
                <a:outerShdw blurRad="38100" dist="38100" dir="2700000" algn="tl">
                  <a:srgbClr val="000000">
                    <a:alpha val="43137"/>
                  </a:srgbClr>
                </a:outerShdw>
              </a:effectLst>
            </a:endParaRPr>
          </a:p>
        </p:txBody>
      </p:sp>
      <p:sp>
        <p:nvSpPr>
          <p:cNvPr id="3" name="Content Placeholder 2"/>
          <p:cNvSpPr>
            <a:spLocks noGrp="1"/>
          </p:cNvSpPr>
          <p:nvPr>
            <p:ph sz="half" idx="1"/>
          </p:nvPr>
        </p:nvSpPr>
        <p:spPr>
          <a:xfrm>
            <a:off x="457200" y="1371600"/>
            <a:ext cx="8485003" cy="3974000"/>
          </a:xfrm>
        </p:spPr>
        <p:txBody>
          <a:bodyPr>
            <a:noAutofit/>
          </a:bodyPr>
          <a:lstStyle/>
          <a:p>
            <a:pPr marL="0" indent="0">
              <a:buNone/>
            </a:pPr>
            <a:endParaRPr lang="en-US" sz="2000" b="1" dirty="0" smtClean="0"/>
          </a:p>
          <a:p>
            <a:pPr>
              <a:buFont typeface="Wingdings" panose="05000000000000000000" pitchFamily="2" charset="2"/>
              <a:buChar char="§"/>
            </a:pPr>
            <a:r>
              <a:rPr lang="en-US" sz="2000" b="1" dirty="0" smtClean="0">
                <a:solidFill>
                  <a:srgbClr val="FF0000"/>
                </a:solidFill>
              </a:rPr>
              <a:t>WHAT: </a:t>
            </a:r>
            <a:r>
              <a:rPr lang="en-US" sz="2000" b="1" dirty="0" smtClean="0"/>
              <a:t>Made the [Project] more affordable by implementing a change bundle process of 40 required changes and netted cost savings.  This contribution meets the programmatic goals of affordability and efficiency.</a:t>
            </a:r>
          </a:p>
          <a:p>
            <a:pPr>
              <a:buFont typeface="Wingdings" panose="05000000000000000000" pitchFamily="2" charset="2"/>
              <a:buChar char="§"/>
            </a:pPr>
            <a:endParaRPr lang="en-US" sz="2000" b="1" dirty="0" smtClean="0">
              <a:solidFill>
                <a:srgbClr val="FF0000"/>
              </a:solidFill>
            </a:endParaRPr>
          </a:p>
          <a:p>
            <a:pPr>
              <a:buFont typeface="Wingdings" panose="05000000000000000000" pitchFamily="2" charset="2"/>
              <a:buChar char="§"/>
            </a:pPr>
            <a:r>
              <a:rPr lang="en-US" sz="2000" b="1" dirty="0" smtClean="0">
                <a:solidFill>
                  <a:srgbClr val="FF0000"/>
                </a:solidFill>
              </a:rPr>
              <a:t>RESULT:  </a:t>
            </a:r>
            <a:r>
              <a:rPr lang="en-US" sz="2000" b="1" dirty="0" smtClean="0"/>
              <a:t>The result of the change bundle award provided $5M of funding for the program manager’s change budget and also removed forty changes from the 250 </a:t>
            </a:r>
            <a:r>
              <a:rPr lang="en-US" sz="2000" b="1" dirty="0" err="1" smtClean="0"/>
              <a:t>unadjudicated</a:t>
            </a:r>
            <a:r>
              <a:rPr lang="en-US" sz="2000" b="1" dirty="0" smtClean="0"/>
              <a:t> changes.  The change bundle resulted in 16% reduction to the total change liability.  </a:t>
            </a:r>
            <a:endParaRPr lang="en-US" sz="2000" b="1" dirty="0" smtClean="0">
              <a:solidFill>
                <a:srgbClr val="FF0000"/>
              </a:solidFill>
            </a:endParaRPr>
          </a:p>
          <a:p>
            <a:pPr>
              <a:buFont typeface="Wingdings" panose="05000000000000000000" pitchFamily="2" charset="2"/>
              <a:buChar char="§"/>
            </a:pPr>
            <a:endParaRPr lang="en-US" sz="2000" b="1" dirty="0">
              <a:solidFill>
                <a:srgbClr val="FF0000"/>
              </a:solidFill>
            </a:endParaRPr>
          </a:p>
          <a:p>
            <a:pPr>
              <a:buFont typeface="Wingdings" panose="05000000000000000000" pitchFamily="2" charset="2"/>
              <a:buChar char="§"/>
            </a:pPr>
            <a:r>
              <a:rPr lang="en-US" sz="2000" b="1" dirty="0" smtClean="0">
                <a:solidFill>
                  <a:srgbClr val="FF0000"/>
                </a:solidFill>
              </a:rPr>
              <a:t>IMPACT:  </a:t>
            </a:r>
            <a:r>
              <a:rPr lang="en-US" sz="2000" b="1" dirty="0" smtClean="0"/>
              <a:t>The change bundle saved $5M and significantly reduced the backlog by 40 changes.  As agreement on the cost savings was reached in December and the change bundle was awarded in June to allow for the [contractor's] lengthy proposal certification process.	</a:t>
            </a:r>
          </a:p>
        </p:txBody>
      </p:sp>
      <p:sp>
        <p:nvSpPr>
          <p:cNvPr id="6" name="Slide Number Placeholder 5"/>
          <p:cNvSpPr>
            <a:spLocks noGrp="1"/>
          </p:cNvSpPr>
          <p:nvPr>
            <p:ph type="sldNum" sz="quarter" idx="10"/>
          </p:nvPr>
        </p:nvSpPr>
        <p:spPr/>
        <p:txBody>
          <a:bodyPr/>
          <a:lstStyle/>
          <a:p>
            <a:fld id="{6182B678-6FDD-40D4-940F-81891D604945}" type="slidenum">
              <a:rPr lang="en-US" smtClean="0"/>
              <a:pPr/>
              <a:t>15</a:t>
            </a:fld>
            <a:endParaRPr lang="en-US" dirty="0"/>
          </a:p>
        </p:txBody>
      </p:sp>
    </p:spTree>
    <p:extLst>
      <p:ext uri="{BB962C8B-B14F-4D97-AF65-F5344CB8AC3E}">
        <p14:creationId xmlns:p14="http://schemas.microsoft.com/office/powerpoint/2010/main" val="2465964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4894" y="0"/>
            <a:ext cx="6934200" cy="1143000"/>
          </a:xfrm>
        </p:spPr>
        <p:txBody>
          <a:bodyPr>
            <a:normAutofit/>
          </a:bodyPr>
          <a:lstStyle/>
          <a:p>
            <a:pPr algn="r"/>
            <a:r>
              <a:rPr lang="en-US" sz="3200" b="1" i="1" dirty="0" smtClean="0">
                <a:solidFill>
                  <a:srgbClr val="7030A0"/>
                </a:solidFill>
                <a:effectLst>
                  <a:outerShdw blurRad="38100" dist="38100" dir="2700000" algn="tl">
                    <a:srgbClr val="000000">
                      <a:alpha val="43137"/>
                    </a:srgbClr>
                  </a:outerShdw>
                </a:effectLst>
              </a:rPr>
              <a:t>W-R-I Example</a:t>
            </a:r>
            <a:br>
              <a:rPr lang="en-US" sz="3200" b="1" i="1" dirty="0" smtClean="0">
                <a:solidFill>
                  <a:srgbClr val="7030A0"/>
                </a:solidFill>
                <a:effectLst>
                  <a:outerShdw blurRad="38100" dist="38100" dir="2700000" algn="tl">
                    <a:srgbClr val="000000">
                      <a:alpha val="43137"/>
                    </a:srgbClr>
                  </a:outerShdw>
                </a:effectLst>
              </a:rPr>
            </a:br>
            <a:r>
              <a:rPr lang="en-US" sz="3200" b="1" i="1" dirty="0" smtClean="0">
                <a:solidFill>
                  <a:srgbClr val="7030A0"/>
                </a:solidFill>
                <a:effectLst>
                  <a:outerShdw blurRad="38100" dist="38100" dir="2700000" algn="tl">
                    <a:srgbClr val="000000">
                      <a:alpha val="43137"/>
                    </a:srgbClr>
                  </a:outerShdw>
                </a:effectLst>
              </a:rPr>
              <a:t> NH-IV</a:t>
            </a:r>
            <a:endParaRPr lang="en-US" sz="3200" b="1" i="1" dirty="0">
              <a:solidFill>
                <a:srgbClr val="7030A0"/>
              </a:solidFill>
              <a:effectLst>
                <a:outerShdw blurRad="38100" dist="38100" dir="2700000" algn="tl">
                  <a:srgbClr val="000000">
                    <a:alpha val="43137"/>
                  </a:srgbClr>
                </a:outerShdw>
              </a:effectLst>
            </a:endParaRPr>
          </a:p>
        </p:txBody>
      </p:sp>
      <p:sp>
        <p:nvSpPr>
          <p:cNvPr id="3" name="Content Placeholder 2"/>
          <p:cNvSpPr>
            <a:spLocks noGrp="1"/>
          </p:cNvSpPr>
          <p:nvPr>
            <p:ph sz="half" idx="1"/>
          </p:nvPr>
        </p:nvSpPr>
        <p:spPr>
          <a:xfrm>
            <a:off x="244091" y="1241268"/>
            <a:ext cx="8485003" cy="5082363"/>
          </a:xfrm>
        </p:spPr>
        <p:txBody>
          <a:bodyPr>
            <a:noAutofit/>
          </a:bodyPr>
          <a:lstStyle/>
          <a:p>
            <a:pPr>
              <a:buFont typeface="Wingdings" panose="05000000000000000000" pitchFamily="2" charset="2"/>
              <a:buChar char="§"/>
            </a:pPr>
            <a:r>
              <a:rPr lang="en-US" sz="1600" b="1" dirty="0" smtClean="0">
                <a:solidFill>
                  <a:srgbClr val="FF0000"/>
                </a:solidFill>
              </a:rPr>
              <a:t>WHAT</a:t>
            </a:r>
            <a:r>
              <a:rPr lang="en-US" sz="1600" b="1" dirty="0"/>
              <a:t>: </a:t>
            </a:r>
            <a:r>
              <a:rPr lang="en-US" sz="1600" b="1" dirty="0" smtClean="0"/>
              <a:t>Interacted </a:t>
            </a:r>
            <a:r>
              <a:rPr lang="en-US" sz="1600" b="1" dirty="0"/>
              <a:t>with Defense Acquisition University and OSD(AT&amp;L) personnel regarding sequestration </a:t>
            </a:r>
            <a:r>
              <a:rPr lang="en-US" sz="1600" b="1" dirty="0" smtClean="0"/>
              <a:t>funding cuts </a:t>
            </a:r>
            <a:r>
              <a:rPr lang="en-US" sz="1600" b="1" dirty="0"/>
              <a:t>to DAU training and related furlough interruptions to the training </a:t>
            </a:r>
            <a:r>
              <a:rPr lang="en-US" sz="1600" b="1" dirty="0" smtClean="0"/>
              <a:t>program.</a:t>
            </a:r>
            <a:endParaRPr lang="en-US" sz="1600" b="1" dirty="0"/>
          </a:p>
          <a:p>
            <a:pPr>
              <a:buFont typeface="Wingdings" panose="05000000000000000000" pitchFamily="2" charset="2"/>
              <a:buChar char="§"/>
            </a:pPr>
            <a:r>
              <a:rPr lang="en-US" sz="1600" b="1" dirty="0">
                <a:solidFill>
                  <a:srgbClr val="FF0000"/>
                </a:solidFill>
              </a:rPr>
              <a:t>RESULT</a:t>
            </a:r>
            <a:r>
              <a:rPr lang="en-US" sz="1600" b="1" dirty="0"/>
              <a:t>: Influenced DAU and OSD(AT&amp;L) policies and </a:t>
            </a:r>
            <a:r>
              <a:rPr lang="en-US" sz="1600" b="1" dirty="0" smtClean="0"/>
              <a:t>direction through the interruptions for clearer path forward.</a:t>
            </a:r>
          </a:p>
          <a:p>
            <a:pPr>
              <a:buFont typeface="Wingdings" panose="05000000000000000000" pitchFamily="2" charset="2"/>
              <a:buChar char="§"/>
            </a:pPr>
            <a:r>
              <a:rPr lang="en-US" sz="1600" b="1" dirty="0" smtClean="0">
                <a:solidFill>
                  <a:srgbClr val="FF0000"/>
                </a:solidFill>
              </a:rPr>
              <a:t>IMPACT</a:t>
            </a:r>
            <a:r>
              <a:rPr lang="en-US" sz="1600" b="1" dirty="0"/>
              <a:t>: Maximized ability of AF personnel to receive required acquisition </a:t>
            </a:r>
            <a:r>
              <a:rPr lang="en-US" sz="1600" b="1" dirty="0" smtClean="0"/>
              <a:t>training.</a:t>
            </a:r>
          </a:p>
          <a:p>
            <a:pPr>
              <a:buFont typeface="Wingdings" panose="05000000000000000000" pitchFamily="2" charset="2"/>
              <a:buChar char="§"/>
            </a:pPr>
            <a:endParaRPr lang="en-US" sz="1600" b="1" dirty="0" smtClean="0"/>
          </a:p>
          <a:p>
            <a:pPr>
              <a:buFont typeface="Wingdings" panose="05000000000000000000" pitchFamily="2" charset="2"/>
              <a:buChar char="§"/>
            </a:pPr>
            <a:endParaRPr lang="en-US" sz="1600" b="1" dirty="0"/>
          </a:p>
          <a:p>
            <a:pPr>
              <a:buFont typeface="Wingdings" panose="05000000000000000000" pitchFamily="2" charset="2"/>
              <a:buChar char="§"/>
            </a:pPr>
            <a:endParaRPr lang="en-US" sz="1600" b="1" dirty="0" smtClean="0"/>
          </a:p>
          <a:p>
            <a:pPr>
              <a:buFont typeface="Wingdings" panose="05000000000000000000" pitchFamily="2" charset="2"/>
              <a:buChar char="§"/>
            </a:pPr>
            <a:endParaRPr lang="en-US" sz="1600" b="1" dirty="0" smtClean="0"/>
          </a:p>
          <a:p>
            <a:pPr>
              <a:buFont typeface="Wingdings" panose="05000000000000000000" pitchFamily="2" charset="2"/>
              <a:buChar char="§"/>
            </a:pPr>
            <a:endParaRPr lang="en-US" sz="1600" b="1" dirty="0"/>
          </a:p>
          <a:p>
            <a:pPr>
              <a:buFont typeface="Wingdings" panose="05000000000000000000" pitchFamily="2" charset="2"/>
              <a:buChar char="§"/>
            </a:pPr>
            <a:r>
              <a:rPr lang="en-US" sz="1600" b="1" dirty="0" smtClean="0">
                <a:solidFill>
                  <a:srgbClr val="FF0000"/>
                </a:solidFill>
              </a:rPr>
              <a:t>WHAT</a:t>
            </a:r>
            <a:r>
              <a:rPr lang="en-US" sz="1600" b="1" dirty="0"/>
              <a:t>: </a:t>
            </a:r>
            <a:r>
              <a:rPr lang="en-US" sz="1600" b="1" i="1" u="sng" dirty="0">
                <a:solidFill>
                  <a:srgbClr val="FF0000"/>
                </a:solidFill>
              </a:rPr>
              <a:t>Led</a:t>
            </a:r>
            <a:r>
              <a:rPr lang="en-US" sz="1600" b="1" i="1" u="sng" dirty="0"/>
              <a:t> </a:t>
            </a:r>
            <a:r>
              <a:rPr lang="en-US" sz="1600" b="1" dirty="0"/>
              <a:t>AF interaction with Defense Acquisition University and OSD(AT&amp;L) personnel regarding sequestration funding cuts to DAU training and related furlough interruptions to the training program.</a:t>
            </a:r>
          </a:p>
          <a:p>
            <a:pPr>
              <a:buFont typeface="Wingdings" panose="05000000000000000000" pitchFamily="2" charset="2"/>
              <a:buChar char="§"/>
            </a:pPr>
            <a:r>
              <a:rPr lang="en-US" sz="1600" b="1" dirty="0">
                <a:solidFill>
                  <a:srgbClr val="FF0000"/>
                </a:solidFill>
              </a:rPr>
              <a:t>RESULT</a:t>
            </a:r>
            <a:r>
              <a:rPr lang="en-US" sz="1600" b="1" dirty="0"/>
              <a:t>: Influenced DAU and OSD(AT&amp;L) policies and direction through the interruptions for clearer path forward, </a:t>
            </a:r>
            <a:r>
              <a:rPr lang="en-US" sz="1600" b="1" i="1" u="sng" dirty="0">
                <a:solidFill>
                  <a:srgbClr val="FF0000"/>
                </a:solidFill>
              </a:rPr>
              <a:t>received required funds and training quotas. </a:t>
            </a:r>
          </a:p>
          <a:p>
            <a:pPr>
              <a:buFont typeface="Wingdings" panose="05000000000000000000" pitchFamily="2" charset="2"/>
              <a:buChar char="§"/>
            </a:pPr>
            <a:r>
              <a:rPr lang="en-US" sz="1600" b="1" dirty="0">
                <a:solidFill>
                  <a:srgbClr val="FF0000"/>
                </a:solidFill>
              </a:rPr>
              <a:t>IMPACT</a:t>
            </a:r>
            <a:r>
              <a:rPr lang="en-US" sz="1600" b="1" dirty="0"/>
              <a:t>: Maximized ability of AF personnel to receive required acquisition </a:t>
            </a:r>
            <a:r>
              <a:rPr lang="en-US" sz="1600" b="1" i="1" u="sng" dirty="0">
                <a:solidFill>
                  <a:srgbClr val="FF0000"/>
                </a:solidFill>
              </a:rPr>
              <a:t>training despite unprecedented funding obstacles  caused by budgetary reductions, sequestration, and government shutdown.</a:t>
            </a:r>
          </a:p>
          <a:p>
            <a:pPr>
              <a:buFont typeface="Wingdings" panose="05000000000000000000" pitchFamily="2" charset="2"/>
              <a:buChar char="§"/>
            </a:pPr>
            <a:endParaRPr lang="en-US" sz="1600" b="1" dirty="0" smtClean="0"/>
          </a:p>
        </p:txBody>
      </p:sp>
      <p:sp>
        <p:nvSpPr>
          <p:cNvPr id="7" name="Down Arrow 6"/>
          <p:cNvSpPr/>
          <p:nvPr/>
        </p:nvSpPr>
        <p:spPr>
          <a:xfrm>
            <a:off x="2585987" y="3124200"/>
            <a:ext cx="2971800" cy="990600"/>
          </a:xfrm>
          <a:prstGeom prst="downArrow">
            <a:avLst/>
          </a:prstGeom>
          <a:solidFill>
            <a:srgbClr val="7030A0"/>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Better!</a:t>
            </a:r>
            <a:endParaRPr lang="en-US" sz="2400" b="1" dirty="0"/>
          </a:p>
        </p:txBody>
      </p:sp>
      <p:sp>
        <p:nvSpPr>
          <p:cNvPr id="6" name="Slide Number Placeholder 5"/>
          <p:cNvSpPr>
            <a:spLocks noGrp="1"/>
          </p:cNvSpPr>
          <p:nvPr>
            <p:ph type="sldNum" sz="quarter" idx="10"/>
          </p:nvPr>
        </p:nvSpPr>
        <p:spPr/>
        <p:txBody>
          <a:bodyPr/>
          <a:lstStyle/>
          <a:p>
            <a:fld id="{6182B678-6FDD-40D4-940F-81891D604945}" type="slidenum">
              <a:rPr lang="en-US" smtClean="0"/>
              <a:pPr/>
              <a:t>16</a:t>
            </a:fld>
            <a:endParaRPr lang="en-US" dirty="0"/>
          </a:p>
        </p:txBody>
      </p:sp>
    </p:spTree>
    <p:extLst>
      <p:ext uri="{BB962C8B-B14F-4D97-AF65-F5344CB8AC3E}">
        <p14:creationId xmlns:p14="http://schemas.microsoft.com/office/powerpoint/2010/main" val="3119379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4011"/>
            <a:ext cx="6934200" cy="1143000"/>
          </a:xfrm>
        </p:spPr>
        <p:txBody>
          <a:bodyPr>
            <a:normAutofit/>
          </a:bodyPr>
          <a:lstStyle/>
          <a:p>
            <a:pPr algn="r"/>
            <a:r>
              <a:rPr lang="en-US" sz="3600" b="1" i="1" dirty="0" smtClean="0">
                <a:solidFill>
                  <a:srgbClr val="7030A0"/>
                </a:solidFill>
                <a:effectLst>
                  <a:outerShdw blurRad="38100" dist="38100" dir="2700000" algn="tl">
                    <a:srgbClr val="000000">
                      <a:alpha val="43137"/>
                    </a:srgbClr>
                  </a:outerShdw>
                </a:effectLst>
              </a:rPr>
              <a:t>Writing </a:t>
            </a:r>
            <a:r>
              <a:rPr lang="en-US" sz="3600" b="1" i="1" dirty="0">
                <a:solidFill>
                  <a:srgbClr val="7030A0"/>
                </a:solidFill>
                <a:effectLst>
                  <a:outerShdw blurRad="38100" dist="38100" dir="2700000" algn="tl">
                    <a:srgbClr val="000000">
                      <a:alpha val="43137"/>
                    </a:srgbClr>
                  </a:outerShdw>
                </a:effectLst>
              </a:rPr>
              <a:t>A</a:t>
            </a:r>
            <a:r>
              <a:rPr lang="en-US" sz="3600" b="1" i="1" dirty="0" smtClean="0">
                <a:solidFill>
                  <a:srgbClr val="7030A0"/>
                </a:solidFill>
                <a:effectLst>
                  <a:outerShdw blurRad="38100" dist="38100" dir="2700000" algn="tl">
                    <a:srgbClr val="000000">
                      <a:alpha val="43137"/>
                    </a:srgbClr>
                  </a:outerShdw>
                </a:effectLst>
              </a:rPr>
              <a:t> Self-Assessment</a:t>
            </a:r>
            <a:endParaRPr lang="en-US" sz="3600" b="1" i="1" dirty="0">
              <a:solidFill>
                <a:srgbClr val="7030A0"/>
              </a:solidFill>
              <a:effectLst>
                <a:outerShdw blurRad="38100" dist="38100" dir="2700000" algn="tl">
                  <a:srgbClr val="000000">
                    <a:alpha val="43137"/>
                  </a:srgbClr>
                </a:outerShdw>
              </a:effectLst>
            </a:endParaRPr>
          </a:p>
        </p:txBody>
      </p:sp>
      <p:sp>
        <p:nvSpPr>
          <p:cNvPr id="3" name="Content Placeholder 2"/>
          <p:cNvSpPr>
            <a:spLocks noGrp="1"/>
          </p:cNvSpPr>
          <p:nvPr>
            <p:ph sz="half" idx="1"/>
          </p:nvPr>
        </p:nvSpPr>
        <p:spPr>
          <a:xfrm>
            <a:off x="276224" y="1066801"/>
            <a:ext cx="8531440" cy="5181600"/>
          </a:xfrm>
        </p:spPr>
        <p:txBody>
          <a:bodyPr>
            <a:noAutofit/>
          </a:bodyPr>
          <a:lstStyle/>
          <a:p>
            <a:pPr>
              <a:buFont typeface="Wingdings" panose="05000000000000000000" pitchFamily="2" charset="2"/>
              <a:buChar char="§"/>
            </a:pPr>
            <a:r>
              <a:rPr lang="en-US" sz="1800" b="1" dirty="0"/>
              <a:t>The set of descriptors for a particular factor and broadband level are to be taken as a group to decide whether an Employee fits the </a:t>
            </a:r>
            <a:r>
              <a:rPr lang="en-US" sz="1800" b="1" dirty="0" smtClean="0"/>
              <a:t>level </a:t>
            </a:r>
          </a:p>
          <a:p>
            <a:pPr marL="0" indent="0">
              <a:buNone/>
            </a:pPr>
            <a:r>
              <a:rPr lang="en-US" sz="1800" dirty="0" smtClean="0"/>
              <a:t> </a:t>
            </a:r>
          </a:p>
          <a:p>
            <a:pPr>
              <a:buFont typeface="Wingdings" panose="05000000000000000000" pitchFamily="2" charset="2"/>
              <a:buChar char="§"/>
            </a:pPr>
            <a:r>
              <a:rPr lang="en-US" sz="1800" b="1" dirty="0" smtClean="0"/>
              <a:t>Seldom </a:t>
            </a:r>
            <a:r>
              <a:rPr lang="en-US" sz="1800" b="1" dirty="0"/>
              <a:t>will your contributions perfectly match all of the descriptors in the set for a particular level, and it is not necessary to write something to match every </a:t>
            </a:r>
            <a:r>
              <a:rPr lang="en-US" sz="1800" b="1" dirty="0" smtClean="0"/>
              <a:t>descriptor</a:t>
            </a:r>
          </a:p>
          <a:p>
            <a:pPr>
              <a:buFont typeface="Wingdings" panose="05000000000000000000" pitchFamily="2" charset="2"/>
              <a:buChar char="§"/>
            </a:pPr>
            <a:endParaRPr lang="en-US" sz="1800" b="1" dirty="0" smtClean="0"/>
          </a:p>
          <a:p>
            <a:pPr>
              <a:buFont typeface="Wingdings" panose="05000000000000000000" pitchFamily="2" charset="2"/>
              <a:buChar char="§"/>
            </a:pPr>
            <a:r>
              <a:rPr lang="en-US" sz="1800" b="1" dirty="0" smtClean="0"/>
              <a:t>Employees </a:t>
            </a:r>
            <a:r>
              <a:rPr lang="en-US" sz="1800" b="1" dirty="0"/>
              <a:t>should be trying to </a:t>
            </a:r>
            <a:r>
              <a:rPr lang="en-US" sz="1800" b="1" u="sng" dirty="0"/>
              <a:t>relate</a:t>
            </a:r>
            <a:r>
              <a:rPr lang="en-US" sz="1800" b="1" dirty="0"/>
              <a:t> to the factors -- not match them -- and then it will be up to Supervisors and the Pay Pool Panel to interpret the descriptors to get a reasonable and equitable assessment of </a:t>
            </a:r>
            <a:r>
              <a:rPr lang="en-US" sz="1800" b="1" dirty="0" smtClean="0"/>
              <a:t>contribution</a:t>
            </a:r>
          </a:p>
          <a:p>
            <a:pPr>
              <a:buFont typeface="Wingdings" panose="05000000000000000000" pitchFamily="2" charset="2"/>
              <a:buChar char="§"/>
            </a:pPr>
            <a:endParaRPr lang="en-US" sz="1800" b="1" dirty="0"/>
          </a:p>
          <a:p>
            <a:pPr>
              <a:buFont typeface="Wingdings" panose="05000000000000000000" pitchFamily="2" charset="2"/>
              <a:buChar char="§"/>
            </a:pPr>
            <a:r>
              <a:rPr lang="en-US" sz="1800" b="1" dirty="0"/>
              <a:t>A contribution in an individual factor is not necessarily represented by a discrete activity; it may be but one facet of the </a:t>
            </a:r>
            <a:r>
              <a:rPr lang="en-US" sz="1800" b="1" dirty="0" smtClean="0"/>
              <a:t>activity</a:t>
            </a:r>
            <a:endParaRPr lang="en-US" sz="1800" b="1" dirty="0"/>
          </a:p>
          <a:p>
            <a:pPr>
              <a:buFont typeface="Wingdings" panose="05000000000000000000" pitchFamily="2" charset="2"/>
              <a:buChar char="§"/>
            </a:pPr>
            <a:endParaRPr lang="en-US" sz="1800" b="1" dirty="0" smtClean="0"/>
          </a:p>
          <a:p>
            <a:pPr>
              <a:buFont typeface="Wingdings" panose="05000000000000000000" pitchFamily="2" charset="2"/>
              <a:buChar char="§"/>
            </a:pPr>
            <a:r>
              <a:rPr lang="en-US" sz="1800" b="1" dirty="0" smtClean="0"/>
              <a:t>A </a:t>
            </a:r>
            <a:r>
              <a:rPr lang="en-US" sz="1800" b="1" dirty="0"/>
              <a:t>single activity may well result in</a:t>
            </a:r>
            <a:r>
              <a:rPr lang="en-US" sz="1800" b="1" dirty="0">
                <a:solidFill>
                  <a:srgbClr val="FF0000"/>
                </a:solidFill>
              </a:rPr>
              <a:t> a contribution that applies to more than one </a:t>
            </a:r>
            <a:r>
              <a:rPr lang="en-US" sz="1800" b="1" dirty="0" smtClean="0">
                <a:solidFill>
                  <a:srgbClr val="FF0000"/>
                </a:solidFill>
              </a:rPr>
              <a:t>factor. </a:t>
            </a:r>
          </a:p>
          <a:p>
            <a:pPr lvl="1">
              <a:buFont typeface="Wingdings" panose="05000000000000000000" pitchFamily="2" charset="2"/>
              <a:buChar char="§"/>
            </a:pPr>
            <a:r>
              <a:rPr lang="en-US" sz="1600" b="1" i="1" dirty="0" smtClean="0"/>
              <a:t>When </a:t>
            </a:r>
            <a:r>
              <a:rPr lang="en-US" sz="1600" b="1" i="1" dirty="0"/>
              <a:t>this occurs do not simply copy and paste the exact same contribution statement as entries for multiple factors. Rather, use language from the unique descriptors of each factor to highlight how that contribution relates to that </a:t>
            </a:r>
            <a:r>
              <a:rPr lang="en-US" sz="1600" b="1" i="1" dirty="0" smtClean="0"/>
              <a:t>factor</a:t>
            </a:r>
            <a:endParaRPr lang="en-US" sz="1600" b="1" i="1" dirty="0"/>
          </a:p>
        </p:txBody>
      </p:sp>
      <p:sp>
        <p:nvSpPr>
          <p:cNvPr id="6" name="Slide Number Placeholder 5"/>
          <p:cNvSpPr>
            <a:spLocks noGrp="1"/>
          </p:cNvSpPr>
          <p:nvPr>
            <p:ph type="sldNum" sz="quarter" idx="10"/>
          </p:nvPr>
        </p:nvSpPr>
        <p:spPr/>
        <p:txBody>
          <a:bodyPr/>
          <a:lstStyle/>
          <a:p>
            <a:fld id="{6182B678-6FDD-40D4-940F-81891D604945}" type="slidenum">
              <a:rPr lang="en-US" smtClean="0"/>
              <a:pPr/>
              <a:t>17</a:t>
            </a:fld>
            <a:endParaRPr lang="en-US" dirty="0"/>
          </a:p>
        </p:txBody>
      </p:sp>
    </p:spTree>
    <p:extLst>
      <p:ext uri="{BB962C8B-B14F-4D97-AF65-F5344CB8AC3E}">
        <p14:creationId xmlns:p14="http://schemas.microsoft.com/office/powerpoint/2010/main" val="295579685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600200" y="0"/>
            <a:ext cx="7086600" cy="990600"/>
          </a:xfrm>
          <a:prstGeom prst="rect">
            <a:avLst/>
          </a:prstGeom>
        </p:spPr>
        <p:txBody>
          <a:bodyPr>
            <a:noAutofit/>
          </a:bodyPr>
          <a:lstStyle/>
          <a:p>
            <a:pPr algn="r"/>
            <a:r>
              <a:rPr lang="en-US" sz="3600" b="1" i="1" dirty="0" smtClean="0">
                <a:solidFill>
                  <a:srgbClr val="7030A0"/>
                </a:solidFill>
                <a:effectLst>
                  <a:outerShdw blurRad="38100" dist="38100" dir="2700000" algn="tl">
                    <a:srgbClr val="000000">
                      <a:alpha val="43137"/>
                    </a:srgbClr>
                  </a:outerShdw>
                </a:effectLst>
              </a:rPr>
              <a:t>Self-Assessment Summary</a:t>
            </a:r>
            <a:endParaRPr lang="en-US" sz="3600" b="1" i="1" dirty="0">
              <a:solidFill>
                <a:srgbClr val="7030A0"/>
              </a:solidFill>
              <a:effectLst>
                <a:outerShdw blurRad="38100" dist="38100" dir="2700000" algn="tl">
                  <a:srgbClr val="000000">
                    <a:alpha val="43137"/>
                  </a:srgbClr>
                </a:outerShdw>
              </a:effectLst>
            </a:endParaRPr>
          </a:p>
        </p:txBody>
      </p:sp>
      <p:sp>
        <p:nvSpPr>
          <p:cNvPr id="6" name="Content Placeholder 5"/>
          <p:cNvSpPr>
            <a:spLocks noGrp="1"/>
          </p:cNvSpPr>
          <p:nvPr>
            <p:ph idx="1"/>
          </p:nvPr>
        </p:nvSpPr>
        <p:spPr>
          <a:xfrm>
            <a:off x="228600" y="1087916"/>
            <a:ext cx="8610599" cy="4906963"/>
          </a:xfrm>
        </p:spPr>
        <p:txBody>
          <a:bodyPr>
            <a:noAutofit/>
          </a:bodyPr>
          <a:lstStyle/>
          <a:p>
            <a:pPr>
              <a:buFont typeface="Wingdings" panose="05000000000000000000" pitchFamily="2" charset="2"/>
              <a:buChar char="§"/>
            </a:pPr>
            <a:r>
              <a:rPr lang="en-US" sz="1800" b="1" dirty="0" smtClean="0"/>
              <a:t>Be </a:t>
            </a:r>
            <a:r>
              <a:rPr lang="en-US" sz="1800" b="1" dirty="0"/>
              <a:t>factual and emphasize how the task/action supports the </a:t>
            </a:r>
            <a:r>
              <a:rPr lang="en-US" sz="1800" b="1" dirty="0" smtClean="0"/>
              <a:t>mission</a:t>
            </a:r>
          </a:p>
          <a:p>
            <a:pPr>
              <a:buFont typeface="Wingdings" panose="05000000000000000000" pitchFamily="2" charset="2"/>
              <a:buChar char="§"/>
            </a:pPr>
            <a:endParaRPr lang="en-US" sz="1800" b="1" dirty="0" smtClean="0"/>
          </a:p>
          <a:p>
            <a:pPr>
              <a:buFont typeface="Wingdings" panose="05000000000000000000" pitchFamily="2" charset="2"/>
              <a:buChar char="§"/>
            </a:pPr>
            <a:r>
              <a:rPr lang="en-US" sz="1800" b="1" dirty="0"/>
              <a:t>The annual appraisal self-assessment should not be a laundry list of skills an employee possesses; nor is it an assessment of </a:t>
            </a:r>
            <a:r>
              <a:rPr lang="en-US" sz="1800" b="1" dirty="0" smtClean="0"/>
              <a:t>potential</a:t>
            </a:r>
          </a:p>
          <a:p>
            <a:pPr>
              <a:buFont typeface="Wingdings" panose="05000000000000000000" pitchFamily="2" charset="2"/>
              <a:buChar char="§"/>
            </a:pPr>
            <a:endParaRPr lang="en-US" sz="1800" b="1" dirty="0" smtClean="0"/>
          </a:p>
          <a:p>
            <a:pPr>
              <a:buFont typeface="Wingdings" panose="05000000000000000000" pitchFamily="2" charset="2"/>
              <a:buChar char="§"/>
            </a:pPr>
            <a:r>
              <a:rPr lang="en-US" sz="1800" b="1" dirty="0"/>
              <a:t>You should be specific when writing contribution statements. </a:t>
            </a:r>
            <a:r>
              <a:rPr lang="en-US" sz="1800" b="1" u="sng" dirty="0">
                <a:solidFill>
                  <a:srgbClr val="FF0000"/>
                </a:solidFill>
              </a:rPr>
              <a:t>Do not leave it to others to presume </a:t>
            </a:r>
            <a:r>
              <a:rPr lang="en-US" sz="1800" b="1" u="sng" dirty="0" smtClean="0">
                <a:solidFill>
                  <a:srgbClr val="FF0000"/>
                </a:solidFill>
              </a:rPr>
              <a:t>contribution </a:t>
            </a:r>
          </a:p>
          <a:p>
            <a:pPr>
              <a:buFont typeface="Wingdings" panose="05000000000000000000" pitchFamily="2" charset="2"/>
              <a:buChar char="§"/>
            </a:pPr>
            <a:endParaRPr lang="en-US" sz="1800" b="1" dirty="0" smtClean="0"/>
          </a:p>
          <a:p>
            <a:pPr>
              <a:buFont typeface="Wingdings" panose="05000000000000000000" pitchFamily="2" charset="2"/>
              <a:buChar char="§"/>
            </a:pPr>
            <a:r>
              <a:rPr lang="en-US" sz="1800" b="1" dirty="0" smtClean="0"/>
              <a:t>Use dollar </a:t>
            </a:r>
            <a:r>
              <a:rPr lang="en-US" sz="1800" b="1" dirty="0"/>
              <a:t>figures, program names, number of people supervised, time saved, percentages, dollars controlled, etc., where and when </a:t>
            </a:r>
            <a:r>
              <a:rPr lang="en-US" sz="1800" b="1" dirty="0" smtClean="0"/>
              <a:t>appropriate</a:t>
            </a:r>
          </a:p>
          <a:p>
            <a:pPr>
              <a:buFont typeface="Wingdings" panose="05000000000000000000" pitchFamily="2" charset="2"/>
              <a:buChar char="§"/>
            </a:pPr>
            <a:endParaRPr lang="en-US" sz="1800" b="1" dirty="0" smtClean="0"/>
          </a:p>
          <a:p>
            <a:pPr>
              <a:buFont typeface="Wingdings" panose="05000000000000000000" pitchFamily="2" charset="2"/>
              <a:buChar char="§"/>
            </a:pPr>
            <a:r>
              <a:rPr lang="en-US" sz="1800" b="1" dirty="0" smtClean="0"/>
              <a:t>Be </a:t>
            </a:r>
            <a:r>
              <a:rPr lang="en-US" sz="1800" b="1" dirty="0"/>
              <a:t>accurate.  Was the contribution made </a:t>
            </a:r>
            <a:r>
              <a:rPr lang="en-US" sz="1800" b="1" dirty="0" smtClean="0"/>
              <a:t>while </a:t>
            </a:r>
            <a:r>
              <a:rPr lang="en-US" sz="1800" b="1" u="sng" dirty="0"/>
              <a:t>the</a:t>
            </a:r>
            <a:r>
              <a:rPr lang="en-US" sz="1800" b="1" dirty="0"/>
              <a:t> team leader or </a:t>
            </a:r>
            <a:r>
              <a:rPr lang="en-US" sz="1800" b="1" u="sng" dirty="0"/>
              <a:t>a</a:t>
            </a:r>
            <a:r>
              <a:rPr lang="en-US" sz="1800" b="1" dirty="0"/>
              <a:t> team </a:t>
            </a:r>
            <a:r>
              <a:rPr lang="en-US" sz="1800" b="1" dirty="0" smtClean="0"/>
              <a:t>member</a:t>
            </a:r>
          </a:p>
          <a:p>
            <a:pPr>
              <a:buFont typeface="Wingdings" panose="05000000000000000000" pitchFamily="2" charset="2"/>
              <a:buChar char="§"/>
            </a:pPr>
            <a:endParaRPr lang="en-US" sz="1800" b="1" dirty="0" smtClean="0"/>
          </a:p>
          <a:p>
            <a:pPr>
              <a:buFont typeface="Wingdings" panose="05000000000000000000" pitchFamily="2" charset="2"/>
              <a:buChar char="§"/>
            </a:pPr>
            <a:r>
              <a:rPr lang="en-US" sz="1800" b="1" dirty="0" smtClean="0"/>
              <a:t>An </a:t>
            </a:r>
            <a:r>
              <a:rPr lang="en-US" sz="1800" b="1" dirty="0"/>
              <a:t>activity may warrant mention under more than one </a:t>
            </a:r>
            <a:r>
              <a:rPr lang="en-US" sz="1800" b="1" dirty="0" smtClean="0"/>
              <a:t>factor</a:t>
            </a:r>
          </a:p>
          <a:p>
            <a:pPr>
              <a:buFont typeface="Wingdings" panose="05000000000000000000" pitchFamily="2" charset="2"/>
              <a:buChar char="§"/>
            </a:pPr>
            <a:endParaRPr lang="en-US" sz="1800" b="1" dirty="0" smtClean="0"/>
          </a:p>
          <a:p>
            <a:pPr>
              <a:buFont typeface="Wingdings" panose="05000000000000000000" pitchFamily="2" charset="2"/>
              <a:buChar char="§"/>
            </a:pPr>
            <a:r>
              <a:rPr lang="en-US" sz="1800" b="1" dirty="0" smtClean="0"/>
              <a:t>Remember </a:t>
            </a:r>
            <a:r>
              <a:rPr lang="en-US" sz="1800" b="1" dirty="0"/>
              <a:t>to address:  </a:t>
            </a:r>
            <a:r>
              <a:rPr lang="en-US" sz="1800" b="1" i="1" dirty="0" smtClean="0"/>
              <a:t>“</a:t>
            </a:r>
            <a:r>
              <a:rPr lang="en-US" sz="1800" b="1" i="1" dirty="0" smtClean="0">
                <a:solidFill>
                  <a:srgbClr val="FF0000"/>
                </a:solidFill>
              </a:rPr>
              <a:t>WHAT</a:t>
            </a:r>
            <a:r>
              <a:rPr lang="en-US" sz="1800" b="1" i="1" dirty="0" smtClean="0"/>
              <a:t>:  Did </a:t>
            </a:r>
            <a:r>
              <a:rPr lang="en-US" sz="1800" b="1" i="1" dirty="0"/>
              <a:t>A </a:t>
            </a:r>
            <a:r>
              <a:rPr lang="en-US" sz="1800" b="1" i="1" dirty="0" smtClean="0"/>
              <a:t> </a:t>
            </a:r>
            <a:r>
              <a:rPr lang="en-US" sz="1800" b="1" i="1" dirty="0" smtClean="0">
                <a:solidFill>
                  <a:srgbClr val="FF0000"/>
                </a:solidFill>
              </a:rPr>
              <a:t>RESULT</a:t>
            </a:r>
            <a:r>
              <a:rPr lang="en-US" sz="1800" b="1" i="1" dirty="0" smtClean="0"/>
              <a:t>: that </a:t>
            </a:r>
            <a:r>
              <a:rPr lang="en-US" sz="1800" b="1" i="1" dirty="0"/>
              <a:t>resulted in B, then state </a:t>
            </a:r>
            <a:r>
              <a:rPr lang="en-US" sz="1800" b="1" i="1" dirty="0" smtClean="0">
                <a:solidFill>
                  <a:srgbClr val="FF0000"/>
                </a:solidFill>
              </a:rPr>
              <a:t>IMPACT</a:t>
            </a:r>
            <a:r>
              <a:rPr lang="en-US" sz="1800" b="1" i="1" dirty="0" smtClean="0"/>
              <a:t>: how </a:t>
            </a:r>
            <a:r>
              <a:rPr lang="en-US" sz="1800" b="1" i="1" dirty="0"/>
              <a:t>it was related to the mission</a:t>
            </a:r>
            <a:r>
              <a:rPr lang="en-US" sz="1800" b="1" i="1" dirty="0" smtClean="0"/>
              <a:t>.”  Apply the So What test!</a:t>
            </a:r>
            <a:endParaRPr lang="en-US" sz="1800" b="1" dirty="0"/>
          </a:p>
          <a:p>
            <a:endParaRPr lang="en-US" sz="1800" dirty="0"/>
          </a:p>
        </p:txBody>
      </p:sp>
      <p:sp>
        <p:nvSpPr>
          <p:cNvPr id="2" name="Slide Number Placeholder 1"/>
          <p:cNvSpPr>
            <a:spLocks noGrp="1"/>
          </p:cNvSpPr>
          <p:nvPr>
            <p:ph type="sldNum" sz="quarter" idx="10"/>
          </p:nvPr>
        </p:nvSpPr>
        <p:spPr/>
        <p:txBody>
          <a:bodyPr/>
          <a:lstStyle/>
          <a:p>
            <a:fld id="{6182B678-6FDD-40D4-940F-81891D604945}" type="slidenum">
              <a:rPr lang="en-US" smtClean="0"/>
              <a:pPr/>
              <a:t>18</a:t>
            </a:fld>
            <a:endParaRPr lang="en-US" dirty="0"/>
          </a:p>
        </p:txBody>
      </p:sp>
    </p:spTree>
    <p:extLst>
      <p:ext uri="{BB962C8B-B14F-4D97-AF65-F5344CB8AC3E}">
        <p14:creationId xmlns:p14="http://schemas.microsoft.com/office/powerpoint/2010/main" val="325779005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294967295"/>
          </p:nvPr>
        </p:nvSpPr>
        <p:spPr>
          <a:xfrm>
            <a:off x="6553200" y="6356350"/>
            <a:ext cx="2133600" cy="365125"/>
          </a:xfrm>
          <a:prstGeom prst="rect">
            <a:avLst/>
          </a:prstGeom>
        </p:spPr>
        <p:txBody>
          <a:bodyPr/>
          <a:lstStyle/>
          <a:p>
            <a:fld id="{6182B678-6FDD-40D4-940F-81891D604945}" type="slidenum">
              <a:rPr lang="en-US" smtClean="0"/>
              <a:pPr/>
              <a:t>19</a:t>
            </a:fld>
            <a:endParaRPr lang="en-US" dirty="0"/>
          </a:p>
        </p:txBody>
      </p:sp>
      <p:sp>
        <p:nvSpPr>
          <p:cNvPr id="4" name="Rectangle 3"/>
          <p:cNvSpPr/>
          <p:nvPr/>
        </p:nvSpPr>
        <p:spPr>
          <a:xfrm>
            <a:off x="533400" y="984011"/>
            <a:ext cx="8077200" cy="571500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Content Placeholder 6"/>
          <p:cNvGraphicFramePr>
            <a:graphicFrameLocks/>
          </p:cNvGraphicFramePr>
          <p:nvPr>
            <p:extLst/>
          </p:nvPr>
        </p:nvGraphicFramePr>
        <p:xfrm>
          <a:off x="685800" y="1060211"/>
          <a:ext cx="1219200" cy="2748534"/>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tblGrid>
              <a:tr h="347218">
                <a:tc>
                  <a:txBody>
                    <a:bodyPr/>
                    <a:lstStyle/>
                    <a:p>
                      <a:r>
                        <a:rPr lang="en-US" sz="1100" dirty="0" smtClean="0"/>
                        <a:t>Employee Menu</a:t>
                      </a:r>
                      <a:endParaRPr lang="en-US" sz="1100" dirty="0"/>
                    </a:p>
                  </a:txBody>
                  <a:tcPr anchor="ctr">
                    <a:solidFill>
                      <a:schemeClr val="accent4">
                        <a:lumMod val="75000"/>
                      </a:schemeClr>
                    </a:solidFill>
                  </a:tcPr>
                </a:tc>
                <a:extLst>
                  <a:ext uri="{0D108BD9-81ED-4DB2-BD59-A6C34878D82A}">
                    <a16:rowId xmlns:a16="http://schemas.microsoft.com/office/drawing/2014/main" val="10000"/>
                  </a:ext>
                </a:extLst>
              </a:tr>
              <a:tr h="399538">
                <a:tc>
                  <a:txBody>
                    <a:bodyPr/>
                    <a:lstStyle/>
                    <a:p>
                      <a:r>
                        <a:rPr lang="en-US" sz="1100" dirty="0" smtClean="0">
                          <a:solidFill>
                            <a:schemeClr val="tx1"/>
                          </a:solidFill>
                        </a:rPr>
                        <a:t>Contribution Planning</a:t>
                      </a:r>
                      <a:endParaRPr lang="en-US" sz="1100" dirty="0">
                        <a:solidFill>
                          <a:schemeClr val="tx1"/>
                        </a:solidFill>
                      </a:endParaRPr>
                    </a:p>
                  </a:txBody>
                  <a:tcPr anchor="ctr">
                    <a:solidFill>
                      <a:schemeClr val="accent4">
                        <a:lumMod val="20000"/>
                        <a:lumOff val="80000"/>
                      </a:schemeClr>
                    </a:solidFill>
                  </a:tcPr>
                </a:tc>
                <a:extLst>
                  <a:ext uri="{0D108BD9-81ED-4DB2-BD59-A6C34878D82A}">
                    <a16:rowId xmlns:a16="http://schemas.microsoft.com/office/drawing/2014/main" val="10001"/>
                  </a:ext>
                </a:extLst>
              </a:tr>
              <a:tr h="399538">
                <a:tc>
                  <a:txBody>
                    <a:bodyPr/>
                    <a:lstStyle/>
                    <a:p>
                      <a:r>
                        <a:rPr lang="en-US" sz="1100" dirty="0" smtClean="0">
                          <a:solidFill>
                            <a:schemeClr val="tx1"/>
                          </a:solidFill>
                        </a:rPr>
                        <a:t>Mid-Point Review Self Assessment</a:t>
                      </a:r>
                      <a:endParaRPr lang="en-US" sz="1100" dirty="0">
                        <a:solidFill>
                          <a:schemeClr val="tx1"/>
                        </a:solidFill>
                      </a:endParaRPr>
                    </a:p>
                  </a:txBody>
                  <a:tcPr anchor="ctr">
                    <a:solidFill>
                      <a:schemeClr val="accent4">
                        <a:lumMod val="20000"/>
                        <a:lumOff val="80000"/>
                      </a:schemeClr>
                    </a:solidFill>
                  </a:tcPr>
                </a:tc>
                <a:extLst>
                  <a:ext uri="{0D108BD9-81ED-4DB2-BD59-A6C34878D82A}">
                    <a16:rowId xmlns:a16="http://schemas.microsoft.com/office/drawing/2014/main" val="10002"/>
                  </a:ext>
                </a:extLst>
              </a:tr>
              <a:tr h="399538">
                <a:tc>
                  <a:txBody>
                    <a:bodyPr/>
                    <a:lstStyle/>
                    <a:p>
                      <a:r>
                        <a:rPr lang="en-US" sz="1100" dirty="0" smtClean="0">
                          <a:solidFill>
                            <a:schemeClr val="tx1"/>
                          </a:solidFill>
                        </a:rPr>
                        <a:t>Closeout Self Assessment</a:t>
                      </a:r>
                      <a:endParaRPr lang="en-US" sz="1100" dirty="0">
                        <a:solidFill>
                          <a:schemeClr val="tx1"/>
                        </a:solidFill>
                      </a:endParaRPr>
                    </a:p>
                  </a:txBody>
                  <a:tcPr anchor="ctr">
                    <a:solidFill>
                      <a:schemeClr val="accent4">
                        <a:lumMod val="20000"/>
                        <a:lumOff val="80000"/>
                      </a:schemeClr>
                    </a:solidFill>
                  </a:tcPr>
                </a:tc>
                <a:extLst>
                  <a:ext uri="{0D108BD9-81ED-4DB2-BD59-A6C34878D82A}">
                    <a16:rowId xmlns:a16="http://schemas.microsoft.com/office/drawing/2014/main" val="10003"/>
                  </a:ext>
                </a:extLst>
              </a:tr>
              <a:tr h="399538">
                <a:tc>
                  <a:txBody>
                    <a:bodyPr/>
                    <a:lstStyle/>
                    <a:p>
                      <a:r>
                        <a:rPr lang="en-US" sz="1100" dirty="0" smtClean="0">
                          <a:solidFill>
                            <a:schemeClr val="tx1"/>
                          </a:solidFill>
                        </a:rPr>
                        <a:t>Annual Appraisal Self Assessment</a:t>
                      </a:r>
                      <a:endParaRPr lang="en-US" sz="1100" dirty="0">
                        <a:solidFill>
                          <a:schemeClr val="tx1"/>
                        </a:solidFill>
                      </a:endParaRPr>
                    </a:p>
                  </a:txBody>
                  <a:tcPr anchor="ctr">
                    <a:solidFill>
                      <a:schemeClr val="accent4">
                        <a:lumMod val="20000"/>
                        <a:lumOff val="80000"/>
                      </a:schemeClr>
                    </a:solidFill>
                  </a:tcPr>
                </a:tc>
                <a:extLst>
                  <a:ext uri="{0D108BD9-81ED-4DB2-BD59-A6C34878D82A}">
                    <a16:rowId xmlns:a16="http://schemas.microsoft.com/office/drawing/2014/main" val="10004"/>
                  </a:ext>
                </a:extLst>
              </a:tr>
              <a:tr h="347218">
                <a:tc>
                  <a:txBody>
                    <a:bodyPr/>
                    <a:lstStyle/>
                    <a:p>
                      <a:r>
                        <a:rPr lang="en-US" sz="1100" dirty="0" smtClean="0">
                          <a:solidFill>
                            <a:schemeClr val="tx1"/>
                          </a:solidFill>
                        </a:rPr>
                        <a:t>Reports</a:t>
                      </a:r>
                      <a:endParaRPr lang="en-US" sz="1100" dirty="0">
                        <a:solidFill>
                          <a:schemeClr val="tx1"/>
                        </a:solidFill>
                      </a:endParaRPr>
                    </a:p>
                  </a:txBody>
                  <a:tcPr anchor="ctr">
                    <a:solidFill>
                      <a:schemeClr val="accent4">
                        <a:lumMod val="20000"/>
                        <a:lumOff val="80000"/>
                      </a:schemeClr>
                    </a:solidFill>
                  </a:tcPr>
                </a:tc>
                <a:extLst>
                  <a:ext uri="{0D108BD9-81ED-4DB2-BD59-A6C34878D82A}">
                    <a16:rowId xmlns:a16="http://schemas.microsoft.com/office/drawing/2014/main" val="10005"/>
                  </a:ext>
                </a:extLst>
              </a:tr>
              <a:tr h="347218">
                <a:tc>
                  <a:txBody>
                    <a:bodyPr/>
                    <a:lstStyle/>
                    <a:p>
                      <a:r>
                        <a:rPr lang="en-US" sz="1100" dirty="0" smtClean="0">
                          <a:solidFill>
                            <a:schemeClr val="tx1"/>
                          </a:solidFill>
                        </a:rPr>
                        <a:t>eDocuments</a:t>
                      </a:r>
                      <a:endParaRPr lang="en-US" sz="1100" dirty="0">
                        <a:solidFill>
                          <a:schemeClr val="tx1"/>
                        </a:solidFill>
                      </a:endParaRPr>
                    </a:p>
                  </a:txBody>
                  <a:tcPr anchor="ctr">
                    <a:solidFill>
                      <a:schemeClr val="accent4">
                        <a:lumMod val="20000"/>
                        <a:lumOff val="80000"/>
                      </a:schemeClr>
                    </a:solidFill>
                  </a:tcPr>
                </a:tc>
                <a:extLst>
                  <a:ext uri="{0D108BD9-81ED-4DB2-BD59-A6C34878D82A}">
                    <a16:rowId xmlns:a16="http://schemas.microsoft.com/office/drawing/2014/main" val="10006"/>
                  </a:ext>
                </a:extLst>
              </a:tr>
            </a:tbl>
          </a:graphicData>
        </a:graphic>
      </p:graphicFrame>
      <p:graphicFrame>
        <p:nvGraphicFramePr>
          <p:cNvPr id="6" name="Table 5"/>
          <p:cNvGraphicFramePr>
            <a:graphicFrameLocks noGrp="1"/>
          </p:cNvGraphicFramePr>
          <p:nvPr>
            <p:extLst/>
          </p:nvPr>
        </p:nvGraphicFramePr>
        <p:xfrm>
          <a:off x="2209800" y="1031241"/>
          <a:ext cx="6096000" cy="329692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370840">
                <a:tc gridSpan="4">
                  <a:txBody>
                    <a:bodyPr/>
                    <a:lstStyle/>
                    <a:p>
                      <a:pPr algn="ctr"/>
                      <a:r>
                        <a:rPr lang="en-US" b="1" dirty="0" smtClean="0">
                          <a:solidFill>
                            <a:srgbClr val="FF0000"/>
                          </a:solidFill>
                        </a:rPr>
                        <a:t>Mid-Point Review </a:t>
                      </a:r>
                      <a:r>
                        <a:rPr lang="en-US" b="1" dirty="0" smtClean="0">
                          <a:solidFill>
                            <a:schemeClr val="tx1"/>
                          </a:solidFill>
                        </a:rPr>
                        <a:t>Self Assessment </a:t>
                      </a:r>
                      <a:r>
                        <a:rPr lang="en-US" b="1" baseline="0" dirty="0" smtClean="0">
                          <a:solidFill>
                            <a:schemeClr val="tx1"/>
                          </a:solidFill>
                        </a:rPr>
                        <a:t>for Joe Contributor</a:t>
                      </a:r>
                      <a:endParaRPr lang="en-US" b="1" dirty="0">
                        <a:solidFill>
                          <a:schemeClr val="tx1"/>
                        </a:solidFill>
                      </a:endParaRPr>
                    </a:p>
                  </a:txBody>
                  <a:tcPr>
                    <a:noFill/>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0">
                <a:tc gridSpan="4">
                  <a:txBody>
                    <a:bodyPr/>
                    <a:lstStyle/>
                    <a:p>
                      <a:pPr algn="ctr"/>
                      <a:r>
                        <a:rPr lang="en-US" dirty="0" smtClean="0"/>
                        <a:t>Year:  </a:t>
                      </a:r>
                      <a:r>
                        <a:rPr lang="en-US" dirty="0" smtClean="0">
                          <a:solidFill>
                            <a:schemeClr val="tx1"/>
                          </a:solidFill>
                        </a:rPr>
                        <a:t>2018 </a:t>
                      </a:r>
                      <a:r>
                        <a:rPr lang="en-US" dirty="0" smtClean="0">
                          <a:solidFill>
                            <a:schemeClr val="tx1"/>
                          </a:solidFill>
                          <a:sym typeface="Webdings"/>
                        </a:rPr>
                        <a:t></a:t>
                      </a:r>
                      <a:endParaRPr lang="en-US" dirty="0">
                        <a:solidFill>
                          <a:schemeClr val="tx1"/>
                        </a:solidFill>
                      </a:endParaRPr>
                    </a:p>
                  </a:txBody>
                  <a:tcPr>
                    <a:noFill/>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1"/>
                  </a:ext>
                </a:extLst>
              </a:tr>
              <a:tr h="172720">
                <a:tc gridSpan="4">
                  <a:txBody>
                    <a:bodyPr/>
                    <a:lstStyle/>
                    <a:p>
                      <a:pPr algn="ctr"/>
                      <a:r>
                        <a:rPr lang="en-US" sz="800" dirty="0" smtClean="0"/>
                        <a:t>First Level Supervisor:  </a:t>
                      </a:r>
                      <a:endParaRPr lang="en-US" sz="800" dirty="0"/>
                    </a:p>
                  </a:txBody>
                  <a:tcPr>
                    <a:noFill/>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2"/>
                  </a:ext>
                </a:extLst>
              </a:tr>
              <a:tr h="0">
                <a:tc>
                  <a:txBody>
                    <a:bodyPr/>
                    <a:lstStyle/>
                    <a:p>
                      <a:pPr algn="ctr"/>
                      <a:r>
                        <a:rPr lang="en-US" sz="1200" b="1" dirty="0" smtClean="0"/>
                        <a:t>Broadband</a:t>
                      </a:r>
                      <a:r>
                        <a:rPr lang="en-US" sz="1200" b="1" baseline="0" dirty="0" smtClean="0"/>
                        <a:t> Level:</a:t>
                      </a:r>
                    </a:p>
                    <a:p>
                      <a:pPr algn="ctr"/>
                      <a:r>
                        <a:rPr lang="en-US" sz="1000" b="0" baseline="0" dirty="0" smtClean="0"/>
                        <a:t>III</a:t>
                      </a:r>
                      <a:endParaRPr lang="en-US" sz="1000" b="0" dirty="0"/>
                    </a:p>
                  </a:txBody>
                  <a:tcPr>
                    <a:noFill/>
                  </a:tcPr>
                </a:tc>
                <a:tc>
                  <a:txBody>
                    <a:bodyPr/>
                    <a:lstStyle/>
                    <a:p>
                      <a:pPr algn="ctr"/>
                      <a:r>
                        <a:rPr lang="en-US" sz="1200" b="1" dirty="0" smtClean="0"/>
                        <a:t>Occupational Series:</a:t>
                      </a:r>
                    </a:p>
                    <a:p>
                      <a:pPr algn="ctr"/>
                      <a:endParaRPr lang="en-US" sz="1200" b="1" dirty="0" smtClean="0"/>
                    </a:p>
                    <a:p>
                      <a:pPr algn="ctr"/>
                      <a:r>
                        <a:rPr lang="en-US" sz="1000" b="0" dirty="0" smtClean="0"/>
                        <a:t>1102</a:t>
                      </a:r>
                      <a:r>
                        <a:rPr lang="en-US" sz="1000" b="0" baseline="0" dirty="0" smtClean="0"/>
                        <a:t> – Contract Specialist</a:t>
                      </a:r>
                      <a:endParaRPr lang="en-US" sz="1000" b="0" dirty="0"/>
                    </a:p>
                  </a:txBody>
                  <a:tcPr>
                    <a:noFill/>
                  </a:tcPr>
                </a:tc>
                <a:tc>
                  <a:txBody>
                    <a:bodyPr/>
                    <a:lstStyle/>
                    <a:p>
                      <a:pPr algn="ctr"/>
                      <a:r>
                        <a:rPr lang="en-US" sz="1200" b="1" dirty="0" smtClean="0"/>
                        <a:t>Career Path:</a:t>
                      </a:r>
                    </a:p>
                    <a:p>
                      <a:pPr algn="ctr"/>
                      <a:r>
                        <a:rPr lang="en-US" sz="1000" b="0" dirty="0" smtClean="0"/>
                        <a:t>NH- Business Management and Technical Management Professional</a:t>
                      </a:r>
                      <a:endParaRPr lang="en-US" sz="1000" b="0" dirty="0"/>
                    </a:p>
                  </a:txBody>
                  <a:tcPr>
                    <a:noFill/>
                  </a:tcPr>
                </a:tc>
                <a:tc>
                  <a:txBody>
                    <a:bodyPr/>
                    <a:lstStyle/>
                    <a:p>
                      <a:pPr algn="ctr"/>
                      <a:r>
                        <a:rPr lang="en-US" sz="1200" b="1" dirty="0" smtClean="0"/>
                        <a:t>Expected OCS Range:</a:t>
                      </a:r>
                    </a:p>
                    <a:p>
                      <a:pPr algn="ctr"/>
                      <a:r>
                        <a:rPr lang="en-US" sz="1200" b="0" dirty="0" smtClean="0"/>
                        <a:t>64 – 68 -71</a:t>
                      </a:r>
                    </a:p>
                  </a:txBody>
                  <a:tcPr>
                    <a:noFill/>
                  </a:tcPr>
                </a:tc>
                <a:extLst>
                  <a:ext uri="{0D108BD9-81ED-4DB2-BD59-A6C34878D82A}">
                    <a16:rowId xmlns:a16="http://schemas.microsoft.com/office/drawing/2014/main" val="10003"/>
                  </a:ext>
                </a:extLst>
              </a:tr>
              <a:tr h="172720">
                <a:tc gridSpan="4">
                  <a:txBody>
                    <a:bodyPr/>
                    <a:lstStyle/>
                    <a:p>
                      <a:r>
                        <a:rPr lang="en-US" sz="1000" dirty="0" smtClean="0">
                          <a:solidFill>
                            <a:schemeClr val="tx1"/>
                          </a:solidFill>
                        </a:rPr>
                        <a:t>Contribution Planning:  </a:t>
                      </a:r>
                      <a:endParaRPr lang="en-US" sz="1000" i="1" dirty="0">
                        <a:solidFill>
                          <a:srgbClr val="00B050"/>
                        </a:solidFill>
                      </a:endParaRPr>
                    </a:p>
                  </a:txBody>
                  <a:tcPr anchor="b">
                    <a:lnB w="12700" cap="flat" cmpd="sng" algn="ctr">
                      <a:solidFill>
                        <a:schemeClr val="tx1"/>
                      </a:solidFill>
                      <a:prstDash val="solid"/>
                      <a:round/>
                      <a:headEnd type="none" w="med" len="med"/>
                      <a:tailEnd type="none" w="med" len="med"/>
                    </a:lnB>
                    <a:noFill/>
                  </a:tcPr>
                </a:tc>
                <a:tc hMerge="1">
                  <a:txBody>
                    <a:bodyPr/>
                    <a:lstStyle/>
                    <a:p>
                      <a:endParaRPr lang="en-US" dirty="0"/>
                    </a:p>
                  </a:txBody>
                  <a:tcPr/>
                </a:tc>
                <a:tc hMerge="1">
                  <a:txBody>
                    <a:bodyPr/>
                    <a:lstStyle/>
                    <a:p>
                      <a:endParaRPr lang="en-US" dirty="0"/>
                    </a:p>
                  </a:txBody>
                  <a:tcPr/>
                </a:tc>
                <a:tc hMerge="1">
                  <a:txBody>
                    <a:bodyPr/>
                    <a:lstStyle/>
                    <a:p>
                      <a:endParaRPr lang="en-US" sz="800" dirty="0"/>
                    </a:p>
                  </a:txBody>
                  <a:tcPr anchor="b"/>
                </a:tc>
                <a:extLst>
                  <a:ext uri="{0D108BD9-81ED-4DB2-BD59-A6C34878D82A}">
                    <a16:rowId xmlns:a16="http://schemas.microsoft.com/office/drawing/2014/main" val="10004"/>
                  </a:ext>
                </a:extLst>
              </a:tr>
              <a:tr h="1224280">
                <a:tc gridSpan="4">
                  <a:txBody>
                    <a:bodyPr/>
                    <a:lstStyle/>
                    <a:p>
                      <a:r>
                        <a:rPr lang="en-US" sz="1000" b="1" dirty="0" smtClean="0"/>
                        <a:t>Job Achievement and/or Innovation:</a:t>
                      </a:r>
                      <a:r>
                        <a:rPr lang="en-US" sz="1000" dirty="0" smtClean="0"/>
                        <a:t>			</a:t>
                      </a:r>
                    </a:p>
                    <a:p>
                      <a:r>
                        <a:rPr lang="en-US" sz="1000" dirty="0" smtClean="0"/>
                        <a:t>Collaboration to promote acquisition planning &amp; timely solutions to acquisition issues…</a:t>
                      </a:r>
                    </a:p>
                    <a:p>
                      <a:r>
                        <a:rPr lang="en-US" sz="1000" dirty="0" smtClean="0"/>
                        <a:t>Enhance communications internally &amp; externally  to support contracting enterprise mission…</a:t>
                      </a:r>
                    </a:p>
                    <a:p>
                      <a:r>
                        <a:rPr lang="en-US" sz="1000" dirty="0" smtClean="0"/>
                        <a:t>Leverage technology to enhance contracting enterprise capabilities and Accountability… </a:t>
                      </a:r>
                    </a:p>
                    <a:p>
                      <a:endParaRPr lang="en-US" sz="1000" b="1" dirty="0" smtClean="0"/>
                    </a:p>
                    <a:p>
                      <a:r>
                        <a:rPr lang="en-US" sz="1000" b="1" dirty="0" smtClean="0"/>
                        <a:t>Communication and/or Teamwork:</a:t>
                      </a:r>
                    </a:p>
                    <a:p>
                      <a:r>
                        <a:rPr lang="en-US" sz="1000" dirty="0" smtClean="0"/>
                        <a:t>Participate in strategic initiatives/improve enterprise performance</a:t>
                      </a:r>
                    </a:p>
                    <a:p>
                      <a:r>
                        <a:rPr lang="en-US" sz="1000" dirty="0" smtClean="0"/>
                        <a:t>Enhance communication internally and externally to support contracting enterprise mission</a:t>
                      </a:r>
                    </a:p>
                    <a:p>
                      <a:endParaRPr lang="en-US"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dirty="0"/>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10005"/>
                  </a:ext>
                </a:extLst>
              </a:tr>
            </a:tbl>
          </a:graphicData>
        </a:graphic>
      </p:graphicFrame>
      <p:sp>
        <p:nvSpPr>
          <p:cNvPr id="7" name="TextBox 6"/>
          <p:cNvSpPr txBox="1"/>
          <p:nvPr/>
        </p:nvSpPr>
        <p:spPr>
          <a:xfrm>
            <a:off x="8152531" y="2887579"/>
            <a:ext cx="153269" cy="1200329"/>
          </a:xfrm>
          <a:prstGeom prst="rect">
            <a:avLst/>
          </a:prstGeom>
          <a:solidFill>
            <a:schemeClr val="bg1">
              <a:lumMod val="95000"/>
            </a:schemeClr>
          </a:solidFill>
          <a:ln>
            <a:solidFill>
              <a:schemeClr val="bg2">
                <a:lumMod val="90000"/>
              </a:schemeClr>
            </a:solidFill>
          </a:ln>
        </p:spPr>
        <p:txBody>
          <a:bodyPr wrap="square" rtlCol="0">
            <a:spAutoFit/>
          </a:bodyPr>
          <a:lstStyle/>
          <a:p>
            <a:pPr algn="ctr"/>
            <a:r>
              <a:rPr lang="en-US" sz="1200" dirty="0" smtClean="0">
                <a:sym typeface="Webdings"/>
              </a:rPr>
              <a:t></a:t>
            </a:r>
          </a:p>
          <a:p>
            <a:pPr algn="ctr"/>
            <a:endParaRPr lang="en-US" sz="1200" dirty="0" smtClean="0">
              <a:sym typeface="Webdings"/>
            </a:endParaRPr>
          </a:p>
          <a:p>
            <a:pPr algn="ctr"/>
            <a:endParaRPr lang="en-US" sz="1200" dirty="0">
              <a:sym typeface="Webdings"/>
            </a:endParaRPr>
          </a:p>
          <a:p>
            <a:pPr algn="ctr"/>
            <a:endParaRPr lang="en-US" sz="1200" dirty="0" smtClean="0">
              <a:sym typeface="Webdings"/>
            </a:endParaRPr>
          </a:p>
          <a:p>
            <a:pPr algn="ctr"/>
            <a:endParaRPr lang="en-US" sz="1200" dirty="0" smtClean="0">
              <a:sym typeface="Webdings"/>
            </a:endParaRPr>
          </a:p>
          <a:p>
            <a:pPr algn="ctr"/>
            <a:r>
              <a:rPr lang="en-US" sz="1200" dirty="0" smtClean="0">
                <a:sym typeface="Webdings"/>
              </a:rPr>
              <a:t></a:t>
            </a:r>
            <a:endParaRPr lang="en-US" sz="1200" dirty="0"/>
          </a:p>
        </p:txBody>
      </p:sp>
      <p:sp>
        <p:nvSpPr>
          <p:cNvPr id="8" name="Rectangle 7"/>
          <p:cNvSpPr/>
          <p:nvPr/>
        </p:nvSpPr>
        <p:spPr>
          <a:xfrm>
            <a:off x="2209045" y="4648200"/>
            <a:ext cx="6096755" cy="1600200"/>
          </a:xfrm>
          <a:prstGeom prst="rect">
            <a:avLst/>
          </a:prstGeom>
          <a:solidFill>
            <a:srgbClr val="EFFFFF"/>
          </a:solidFill>
          <a:ln>
            <a:solidFill>
              <a:srgbClr val="CC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9" name="Table 8"/>
          <p:cNvGraphicFramePr>
            <a:graphicFrameLocks noGrp="1"/>
          </p:cNvGraphicFramePr>
          <p:nvPr>
            <p:extLst/>
          </p:nvPr>
        </p:nvGraphicFramePr>
        <p:xfrm>
          <a:off x="2209046" y="4303294"/>
          <a:ext cx="6096754" cy="1994264"/>
        </p:xfrm>
        <a:graphic>
          <a:graphicData uri="http://schemas.openxmlformats.org/drawingml/2006/table">
            <a:tbl>
              <a:tblPr firstRow="1" bandRow="1">
                <a:tableStyleId>{5C22544A-7EE6-4342-B048-85BDC9FD1C3A}</a:tableStyleId>
              </a:tblPr>
              <a:tblGrid>
                <a:gridCol w="1752817">
                  <a:extLst>
                    <a:ext uri="{9D8B030D-6E8A-4147-A177-3AD203B41FA5}">
                      <a16:colId xmlns:a16="http://schemas.microsoft.com/office/drawing/2014/main" val="20000"/>
                    </a:ext>
                  </a:extLst>
                </a:gridCol>
                <a:gridCol w="2210073">
                  <a:extLst>
                    <a:ext uri="{9D8B030D-6E8A-4147-A177-3AD203B41FA5}">
                      <a16:colId xmlns:a16="http://schemas.microsoft.com/office/drawing/2014/main" val="20001"/>
                    </a:ext>
                  </a:extLst>
                </a:gridCol>
                <a:gridCol w="533466">
                  <a:extLst>
                    <a:ext uri="{9D8B030D-6E8A-4147-A177-3AD203B41FA5}">
                      <a16:colId xmlns:a16="http://schemas.microsoft.com/office/drawing/2014/main" val="20002"/>
                    </a:ext>
                  </a:extLst>
                </a:gridCol>
                <a:gridCol w="1600398">
                  <a:extLst>
                    <a:ext uri="{9D8B030D-6E8A-4147-A177-3AD203B41FA5}">
                      <a16:colId xmlns:a16="http://schemas.microsoft.com/office/drawing/2014/main" val="20003"/>
                    </a:ext>
                  </a:extLst>
                </a:gridCol>
              </a:tblGrid>
              <a:tr h="239486">
                <a:tc>
                  <a:txBody>
                    <a:bodyPr/>
                    <a:lstStyle/>
                    <a:p>
                      <a:pPr algn="ctr"/>
                      <a:r>
                        <a:rPr lang="en-US" sz="1000" dirty="0" smtClean="0">
                          <a:solidFill>
                            <a:schemeClr val="tx1"/>
                          </a:solidFill>
                        </a:rPr>
                        <a:t>Job Achievement                 and/or Innovation</a:t>
                      </a:r>
                      <a:endParaRPr lang="en-US" sz="1000" dirty="0">
                        <a:solidFill>
                          <a:schemeClr val="tx1"/>
                        </a:solidFill>
                      </a:endParaRPr>
                    </a:p>
                  </a:txBody>
                  <a:tcPr>
                    <a:gradFill flip="none" rotWithShape="1">
                      <a:gsLst>
                        <a:gs pos="0">
                          <a:srgbClr val="3F3FFF">
                            <a:tint val="66000"/>
                            <a:satMod val="160000"/>
                          </a:srgbClr>
                        </a:gs>
                        <a:gs pos="50000">
                          <a:srgbClr val="3F3FFF">
                            <a:tint val="44500"/>
                            <a:satMod val="160000"/>
                          </a:srgbClr>
                        </a:gs>
                        <a:gs pos="100000">
                          <a:srgbClr val="3F3FFF">
                            <a:tint val="23500"/>
                            <a:satMod val="160000"/>
                          </a:srgbClr>
                        </a:gs>
                      </a:gsLst>
                      <a:lin ang="16200000" scaled="1"/>
                      <a:tileRect/>
                    </a:gra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dirty="0" smtClean="0">
                          <a:solidFill>
                            <a:schemeClr val="tx1"/>
                          </a:solidFill>
                        </a:rPr>
                        <a:t>Communication    </a:t>
                      </a:r>
                    </a:p>
                    <a:p>
                      <a:pPr marL="0" marR="0" indent="0" algn="ctr" defTabSz="914400" rtl="0" eaLnBrk="1" fontAlgn="auto" latinLnBrk="0" hangingPunct="1">
                        <a:lnSpc>
                          <a:spcPct val="100000"/>
                        </a:lnSpc>
                        <a:spcBef>
                          <a:spcPts val="0"/>
                        </a:spcBef>
                        <a:spcAft>
                          <a:spcPts val="0"/>
                        </a:spcAft>
                        <a:buClrTx/>
                        <a:buSzTx/>
                        <a:buFontTx/>
                        <a:buNone/>
                        <a:tabLst/>
                        <a:defRPr/>
                      </a:pPr>
                      <a:r>
                        <a:rPr lang="en-US" sz="1000" dirty="0" smtClean="0">
                          <a:solidFill>
                            <a:schemeClr val="tx1"/>
                          </a:solidFill>
                        </a:rPr>
                        <a:t>and/or Teamwork</a:t>
                      </a:r>
                      <a:endParaRPr lang="en-US" sz="1000" dirty="0">
                        <a:solidFill>
                          <a:schemeClr val="tx1"/>
                        </a:solidFill>
                      </a:endParaRPr>
                    </a:p>
                  </a:txBody>
                  <a:tcPr>
                    <a:gradFill flip="none" rotWithShape="1">
                      <a:gsLst>
                        <a:gs pos="0">
                          <a:srgbClr val="3F3FFF">
                            <a:tint val="66000"/>
                            <a:satMod val="160000"/>
                          </a:srgbClr>
                        </a:gs>
                        <a:gs pos="50000">
                          <a:srgbClr val="3F3FFF">
                            <a:tint val="44500"/>
                            <a:satMod val="160000"/>
                          </a:srgbClr>
                        </a:gs>
                        <a:gs pos="100000">
                          <a:srgbClr val="3F3FFF">
                            <a:tint val="23500"/>
                            <a:satMod val="160000"/>
                          </a:srgbClr>
                        </a:gs>
                      </a:gsLst>
                      <a:lin ang="16200000" scaled="1"/>
                      <a:tileRect/>
                    </a:gradFill>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dirty="0" smtClean="0">
                          <a:solidFill>
                            <a:schemeClr val="tx1"/>
                          </a:solidFill>
                        </a:rPr>
                        <a:t>Mission </a:t>
                      </a:r>
                    </a:p>
                    <a:p>
                      <a:pPr marL="0" marR="0" indent="0" algn="ctr" defTabSz="914400" rtl="0" eaLnBrk="1" fontAlgn="auto" latinLnBrk="0" hangingPunct="1">
                        <a:lnSpc>
                          <a:spcPct val="100000"/>
                        </a:lnSpc>
                        <a:spcBef>
                          <a:spcPts val="0"/>
                        </a:spcBef>
                        <a:spcAft>
                          <a:spcPts val="0"/>
                        </a:spcAft>
                        <a:buClrTx/>
                        <a:buSzTx/>
                        <a:buFontTx/>
                        <a:buNone/>
                        <a:tabLst/>
                        <a:defRPr/>
                      </a:pPr>
                      <a:r>
                        <a:rPr lang="en-US" sz="1000" dirty="0" smtClean="0">
                          <a:solidFill>
                            <a:schemeClr val="tx1"/>
                          </a:solidFill>
                        </a:rPr>
                        <a:t>Support</a:t>
                      </a:r>
                    </a:p>
                  </a:txBody>
                  <a:tcPr>
                    <a:gradFill flip="none" rotWithShape="1">
                      <a:gsLst>
                        <a:gs pos="0">
                          <a:srgbClr val="3F3FFF">
                            <a:tint val="66000"/>
                            <a:satMod val="160000"/>
                          </a:srgbClr>
                        </a:gs>
                        <a:gs pos="50000">
                          <a:srgbClr val="3F3FFF">
                            <a:tint val="44500"/>
                            <a:satMod val="160000"/>
                          </a:srgbClr>
                        </a:gs>
                        <a:gs pos="100000">
                          <a:srgbClr val="3F3FFF">
                            <a:tint val="23500"/>
                            <a:satMod val="160000"/>
                          </a:srgbClr>
                        </a:gs>
                      </a:gsLst>
                      <a:lin ang="16200000" scaled="1"/>
                      <a:tileRect/>
                    </a:gradFill>
                  </a:tcPr>
                </a:tc>
                <a:tc hMerge="1">
                  <a:txBody>
                    <a:bodyPr/>
                    <a:lstStyle/>
                    <a:p>
                      <a:endParaRPr lang="en-US"/>
                    </a:p>
                  </a:txBody>
                  <a:tcPr/>
                </a:tc>
                <a:extLst>
                  <a:ext uri="{0D108BD9-81ED-4DB2-BD59-A6C34878D82A}">
                    <a16:rowId xmlns:a16="http://schemas.microsoft.com/office/drawing/2014/main" val="10000"/>
                  </a:ext>
                </a:extLst>
              </a:tr>
              <a:tr h="239486">
                <a:tc gridSpan="4">
                  <a:txBody>
                    <a:bodyPr/>
                    <a:lstStyle/>
                    <a:p>
                      <a:pPr algn="ctr"/>
                      <a:r>
                        <a:rPr lang="en-US" sz="1000" b="1" u="none" dirty="0" smtClean="0">
                          <a:solidFill>
                            <a:schemeClr val="tx2"/>
                          </a:solidFill>
                        </a:rPr>
                        <a:t>Job Achievement and/or Innovation</a:t>
                      </a:r>
                    </a:p>
                    <a:p>
                      <a:pPr algn="ctr"/>
                      <a:endParaRPr lang="en-US" sz="1000" b="1" u="sng" dirty="0">
                        <a:solidFill>
                          <a:schemeClr val="tx2"/>
                        </a:solidFill>
                      </a:endParaRPr>
                    </a:p>
                  </a:txBody>
                  <a:tcPr>
                    <a:solidFill>
                      <a:srgbClr val="EFFFFF"/>
                    </a:solidFill>
                  </a:tcPr>
                </a:tc>
                <a:tc hMerge="1">
                  <a:txBody>
                    <a:bodyPr/>
                    <a:lstStyle/>
                    <a:p>
                      <a:endParaRPr lang="en-US" sz="1000" dirty="0"/>
                    </a:p>
                  </a:txBody>
                  <a:tcPr/>
                </a:tc>
                <a:tc hMerge="1">
                  <a:txBody>
                    <a:bodyPr/>
                    <a:lstStyle/>
                    <a:p>
                      <a:endParaRPr lang="en-US" sz="1000" dirty="0"/>
                    </a:p>
                  </a:txBody>
                  <a:tcPr/>
                </a:tc>
                <a:tc hMerge="1">
                  <a:txBody>
                    <a:bodyPr/>
                    <a:lstStyle/>
                    <a:p>
                      <a:endParaRPr lang="en-US"/>
                    </a:p>
                  </a:txBody>
                  <a:tcPr/>
                </a:tc>
                <a:extLst>
                  <a:ext uri="{0D108BD9-81ED-4DB2-BD59-A6C34878D82A}">
                    <a16:rowId xmlns:a16="http://schemas.microsoft.com/office/drawing/2014/main" val="10001"/>
                  </a:ext>
                </a:extLst>
              </a:tr>
              <a:tr h="121920">
                <a:tc gridSpan="3">
                  <a:txBody>
                    <a:bodyPr/>
                    <a:lstStyle/>
                    <a:p>
                      <a:r>
                        <a:rPr lang="en-US" sz="1000" b="1" dirty="0" smtClean="0">
                          <a:solidFill>
                            <a:schemeClr val="tx2"/>
                          </a:solidFill>
                        </a:rPr>
                        <a:t>Employee Self Assessment</a:t>
                      </a:r>
                      <a:endParaRPr lang="en-US" sz="1000" b="1" dirty="0">
                        <a:solidFill>
                          <a:schemeClr val="tx2"/>
                        </a:solidFill>
                      </a:endParaRPr>
                    </a:p>
                  </a:txBody>
                  <a:tcPr anchor="b">
                    <a:solidFill>
                      <a:srgbClr val="EFFFFF"/>
                    </a:solidFill>
                  </a:tcPr>
                </a:tc>
                <a:tc hMerge="1">
                  <a:txBody>
                    <a:bodyPr/>
                    <a:lstStyle/>
                    <a:p>
                      <a:endParaRPr lang="en-US" sz="1000" dirty="0"/>
                    </a:p>
                  </a:txBody>
                  <a:tcPr/>
                </a:tc>
                <a:tc hMerge="1">
                  <a:txBody>
                    <a:bodyPr/>
                    <a:lstStyle/>
                    <a:p>
                      <a:endParaRPr 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b="1" dirty="0" smtClean="0"/>
                        <a:t>(Characters used:  0 of 4000)</a:t>
                      </a:r>
                    </a:p>
                  </a:txBody>
                  <a:tcPr anchor="b">
                    <a:solidFill>
                      <a:srgbClr val="EFFFFF"/>
                    </a:solidFill>
                  </a:tcPr>
                </a:tc>
                <a:extLst>
                  <a:ext uri="{0D108BD9-81ED-4DB2-BD59-A6C34878D82A}">
                    <a16:rowId xmlns:a16="http://schemas.microsoft.com/office/drawing/2014/main" val="10002"/>
                  </a:ext>
                </a:extLst>
              </a:tr>
              <a:tr h="957944">
                <a:tc gridSpan="4">
                  <a:txBody>
                    <a:bodyPr/>
                    <a:lstStyle/>
                    <a:p>
                      <a:endParaRPr lang="en-US" sz="1000" dirty="0"/>
                    </a:p>
                  </a:txBody>
                  <a:tcPr>
                    <a:solidFill>
                      <a:schemeClr val="bg1"/>
                    </a:solidFill>
                  </a:tcPr>
                </a:tc>
                <a:tc hMerge="1">
                  <a:txBody>
                    <a:bodyPr/>
                    <a:lstStyle/>
                    <a:p>
                      <a:endParaRPr lang="en-US" sz="1000" dirty="0"/>
                    </a:p>
                  </a:txBody>
                  <a:tcPr/>
                </a:tc>
                <a:tc hMerge="1">
                  <a:txBody>
                    <a:bodyPr/>
                    <a:lstStyle/>
                    <a:p>
                      <a:endParaRPr lang="en-US" sz="1000"/>
                    </a:p>
                  </a:txBody>
                  <a:tcPr/>
                </a:tc>
                <a:tc hMerge="1">
                  <a:txBody>
                    <a:bodyPr/>
                    <a:lstStyle/>
                    <a:p>
                      <a:endParaRPr lang="en-US"/>
                    </a:p>
                  </a:txBody>
                  <a:tcPr/>
                </a:tc>
                <a:extLst>
                  <a:ext uri="{0D108BD9-81ED-4DB2-BD59-A6C34878D82A}">
                    <a16:rowId xmlns:a16="http://schemas.microsoft.com/office/drawing/2014/main" val="10003"/>
                  </a:ext>
                </a:extLst>
              </a:tr>
            </a:tbl>
          </a:graphicData>
        </a:graphic>
      </p:graphicFrame>
      <p:sp>
        <p:nvSpPr>
          <p:cNvPr id="10" name="TextBox 9"/>
          <p:cNvSpPr txBox="1"/>
          <p:nvPr/>
        </p:nvSpPr>
        <p:spPr>
          <a:xfrm>
            <a:off x="2133600" y="6276201"/>
            <a:ext cx="1888659" cy="276999"/>
          </a:xfrm>
          <a:prstGeom prst="rect">
            <a:avLst/>
          </a:prstGeom>
          <a:noFill/>
        </p:spPr>
        <p:txBody>
          <a:bodyPr wrap="none" rtlCol="0">
            <a:spAutoFit/>
          </a:bodyPr>
          <a:lstStyle/>
          <a:p>
            <a:r>
              <a:rPr lang="en-US" sz="1200" dirty="0" smtClean="0">
                <a:sym typeface="Wingdings 2"/>
              </a:rPr>
              <a:t></a:t>
            </a:r>
            <a:r>
              <a:rPr lang="en-US" sz="1000" dirty="0" smtClean="0">
                <a:sym typeface="Wingdings 2"/>
              </a:rPr>
              <a:t> Employee Narrative Complete</a:t>
            </a:r>
            <a:endParaRPr lang="en-US" sz="1000" dirty="0"/>
          </a:p>
        </p:txBody>
      </p:sp>
      <p:sp>
        <p:nvSpPr>
          <p:cNvPr id="11" name="TextBox 10"/>
          <p:cNvSpPr txBox="1"/>
          <p:nvPr/>
        </p:nvSpPr>
        <p:spPr>
          <a:xfrm>
            <a:off x="7010400" y="6276201"/>
            <a:ext cx="609600" cy="230832"/>
          </a:xfrm>
          <a:prstGeom prst="rect">
            <a:avLst/>
          </a:prstGeom>
          <a:solidFill>
            <a:schemeClr val="bg1"/>
          </a:solidFill>
          <a:ln>
            <a:solidFill>
              <a:schemeClr val="tx1"/>
            </a:solidFill>
          </a:ln>
        </p:spPr>
        <p:txBody>
          <a:bodyPr wrap="square" rtlCol="0">
            <a:spAutoFit/>
          </a:bodyPr>
          <a:lstStyle/>
          <a:p>
            <a:pPr algn="ctr"/>
            <a:r>
              <a:rPr lang="en-US" sz="900" dirty="0" smtClean="0"/>
              <a:t>Save</a:t>
            </a:r>
            <a:endParaRPr lang="en-US" sz="900" dirty="0"/>
          </a:p>
        </p:txBody>
      </p:sp>
      <p:sp>
        <p:nvSpPr>
          <p:cNvPr id="12" name="TextBox 11"/>
          <p:cNvSpPr txBox="1"/>
          <p:nvPr/>
        </p:nvSpPr>
        <p:spPr>
          <a:xfrm>
            <a:off x="7696200" y="6276201"/>
            <a:ext cx="609600" cy="230832"/>
          </a:xfrm>
          <a:prstGeom prst="rect">
            <a:avLst/>
          </a:prstGeom>
          <a:solidFill>
            <a:schemeClr val="bg1"/>
          </a:solidFill>
          <a:ln>
            <a:solidFill>
              <a:schemeClr val="tx1"/>
            </a:solidFill>
          </a:ln>
        </p:spPr>
        <p:txBody>
          <a:bodyPr wrap="square" rtlCol="0">
            <a:spAutoFit/>
          </a:bodyPr>
          <a:lstStyle/>
          <a:p>
            <a:pPr algn="ctr"/>
            <a:r>
              <a:rPr lang="en-US" sz="900" dirty="0" smtClean="0"/>
              <a:t>Exit</a:t>
            </a:r>
            <a:endParaRPr lang="en-US" sz="900" dirty="0"/>
          </a:p>
        </p:txBody>
      </p:sp>
      <p:pic>
        <p:nvPicPr>
          <p:cNvPr id="13" name="Picture 2"/>
          <p:cNvPicPr>
            <a:picLocks noChangeAspect="1" noChangeArrowheads="1"/>
          </p:cNvPicPr>
          <p:nvPr/>
        </p:nvPicPr>
        <p:blipFill>
          <a:blip r:embed="rId2" cstate="print"/>
          <a:srcRect/>
          <a:stretch>
            <a:fillRect/>
          </a:stretch>
        </p:blipFill>
        <p:spPr bwMode="auto">
          <a:xfrm>
            <a:off x="8152531" y="3124200"/>
            <a:ext cx="137227" cy="280988"/>
          </a:xfrm>
          <a:prstGeom prst="rect">
            <a:avLst/>
          </a:prstGeom>
          <a:noFill/>
          <a:ln w="9525">
            <a:noFill/>
            <a:miter lim="800000"/>
            <a:headEnd/>
            <a:tailEnd/>
          </a:ln>
        </p:spPr>
      </p:pic>
      <p:sp>
        <p:nvSpPr>
          <p:cNvPr id="14" name="Right Arrow 13"/>
          <p:cNvSpPr/>
          <p:nvPr/>
        </p:nvSpPr>
        <p:spPr>
          <a:xfrm>
            <a:off x="3530897" y="4789370"/>
            <a:ext cx="917970" cy="492006"/>
          </a:xfrm>
          <a:prstGeom prst="rightArrow">
            <a:avLst>
              <a:gd name="adj1" fmla="val 50000"/>
              <a:gd name="adj2" fmla="val 47987"/>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5888"/>
            <a:r>
              <a:rPr lang="en-US" dirty="0" smtClean="0">
                <a:solidFill>
                  <a:schemeClr val="tx1"/>
                </a:solidFill>
              </a:rPr>
              <a:t>Click</a:t>
            </a:r>
            <a:endParaRPr lang="en-US" dirty="0">
              <a:solidFill>
                <a:schemeClr val="tx1"/>
              </a:solidFill>
            </a:endParaRPr>
          </a:p>
        </p:txBody>
      </p:sp>
      <p:sp>
        <p:nvSpPr>
          <p:cNvPr id="15" name="TextBox 14"/>
          <p:cNvSpPr txBox="1"/>
          <p:nvPr/>
        </p:nvSpPr>
        <p:spPr>
          <a:xfrm>
            <a:off x="4507020" y="4908943"/>
            <a:ext cx="1465466" cy="215444"/>
          </a:xfrm>
          <a:prstGeom prst="rect">
            <a:avLst/>
          </a:prstGeom>
          <a:gradFill flip="none" rotWithShape="1">
            <a:gsLst>
              <a:gs pos="0">
                <a:schemeClr val="bg1">
                  <a:lumMod val="85000"/>
                  <a:shade val="30000"/>
                  <a:satMod val="115000"/>
                </a:schemeClr>
              </a:gs>
              <a:gs pos="50000">
                <a:schemeClr val="bg1">
                  <a:lumMod val="85000"/>
                  <a:shade val="67500"/>
                  <a:satMod val="115000"/>
                </a:schemeClr>
              </a:gs>
              <a:gs pos="100000">
                <a:schemeClr val="bg1">
                  <a:lumMod val="85000"/>
                  <a:shade val="100000"/>
                  <a:satMod val="115000"/>
                </a:schemeClr>
              </a:gs>
            </a:gsLst>
            <a:lin ang="2700000" scaled="1"/>
            <a:tileRect/>
          </a:gradFill>
          <a:ln>
            <a:solidFill>
              <a:schemeClr val="tx1"/>
            </a:solidFill>
          </a:ln>
        </p:spPr>
        <p:txBody>
          <a:bodyPr wrap="none" rtlCol="0">
            <a:spAutoFit/>
          </a:bodyPr>
          <a:lstStyle/>
          <a:p>
            <a:r>
              <a:rPr lang="en-US" sz="800" dirty="0" smtClean="0"/>
              <a:t>Descriptors and Discriminators</a:t>
            </a:r>
            <a:endParaRPr lang="en-US" sz="800" dirty="0"/>
          </a:p>
        </p:txBody>
      </p:sp>
      <p:sp>
        <p:nvSpPr>
          <p:cNvPr id="17" name="Title 3"/>
          <p:cNvSpPr>
            <a:spLocks noGrp="1"/>
          </p:cNvSpPr>
          <p:nvPr>
            <p:ph type="title"/>
          </p:nvPr>
        </p:nvSpPr>
        <p:spPr>
          <a:xfrm>
            <a:off x="1981200" y="11153"/>
            <a:ext cx="6705600" cy="639762"/>
          </a:xfrm>
          <a:prstGeom prst="rect">
            <a:avLst/>
          </a:prstGeom>
        </p:spPr>
        <p:txBody>
          <a:bodyPr>
            <a:noAutofit/>
          </a:bodyPr>
          <a:lstStyle/>
          <a:p>
            <a:pPr algn="r"/>
            <a:r>
              <a:rPr lang="en-US" sz="3200" b="1" dirty="0" smtClean="0"/>
              <a:t>Mid-Point Self Assessment</a:t>
            </a:r>
            <a:endParaRPr lang="en-US" sz="3200" b="1" dirty="0"/>
          </a:p>
        </p:txBody>
      </p:sp>
    </p:spTree>
    <p:extLst>
      <p:ext uri="{BB962C8B-B14F-4D97-AF65-F5344CB8AC3E}">
        <p14:creationId xmlns:p14="http://schemas.microsoft.com/office/powerpoint/2010/main" val="360372745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19595"/>
            <a:ext cx="6934200" cy="898281"/>
          </a:xfrm>
        </p:spPr>
        <p:txBody>
          <a:bodyPr>
            <a:normAutofit/>
          </a:bodyPr>
          <a:lstStyle/>
          <a:p>
            <a:pPr algn="r"/>
            <a:r>
              <a:rPr lang="en-US" sz="3600" b="1" dirty="0" smtClean="0"/>
              <a:t>Factors Review</a:t>
            </a:r>
            <a:endParaRPr lang="en-US" sz="3600" b="1" dirty="0"/>
          </a:p>
        </p:txBody>
      </p:sp>
      <p:sp>
        <p:nvSpPr>
          <p:cNvPr id="9" name="Slide Number Placeholder 8"/>
          <p:cNvSpPr>
            <a:spLocks noGrp="1"/>
          </p:cNvSpPr>
          <p:nvPr>
            <p:ph type="sldNum" sz="quarter" idx="10"/>
          </p:nvPr>
        </p:nvSpPr>
        <p:spPr/>
        <p:txBody>
          <a:bodyPr/>
          <a:lstStyle/>
          <a:p>
            <a:fld id="{6182B678-6FDD-40D4-940F-81891D604945}" type="slidenum">
              <a:rPr lang="en-US" smtClean="0"/>
              <a:pPr/>
              <a:t>20</a:t>
            </a:fld>
            <a:endParaRPr lang="en-US" dirty="0"/>
          </a:p>
        </p:txBody>
      </p:sp>
      <p:sp>
        <p:nvSpPr>
          <p:cNvPr id="5" name="Content Placeholder 4"/>
          <p:cNvSpPr>
            <a:spLocks noGrp="1"/>
          </p:cNvSpPr>
          <p:nvPr>
            <p:ph idx="1"/>
          </p:nvPr>
        </p:nvSpPr>
        <p:spPr>
          <a:xfrm>
            <a:off x="620078" y="1368270"/>
            <a:ext cx="8147359" cy="5440031"/>
          </a:xfrm>
        </p:spPr>
        <p:txBody>
          <a:bodyPr>
            <a:noAutofit/>
          </a:bodyPr>
          <a:lstStyle/>
          <a:p>
            <a:pPr marL="457200" lvl="3" indent="-457200">
              <a:buClr>
                <a:schemeClr val="tx1"/>
              </a:buClr>
              <a:buFont typeface="Wingdings" panose="05000000000000000000" pitchFamily="2" charset="2"/>
              <a:buChar char="§"/>
            </a:pPr>
            <a:endParaRPr lang="en-US" sz="2800" dirty="0">
              <a:solidFill>
                <a:srgbClr val="060606"/>
              </a:solidFill>
            </a:endParaRPr>
          </a:p>
          <a:p>
            <a:pPr marL="800100" lvl="4" indent="-342900">
              <a:buFont typeface="Wingdings" panose="05000000000000000000" pitchFamily="2" charset="2"/>
              <a:buChar char="§"/>
            </a:pPr>
            <a:endParaRPr lang="en-US" sz="2000" dirty="0">
              <a:solidFill>
                <a:srgbClr val="060606"/>
              </a:solidFill>
            </a:endParaRPr>
          </a:p>
          <a:p>
            <a:pPr marL="6350" lvl="2" indent="0">
              <a:lnSpc>
                <a:spcPct val="100000"/>
              </a:lnSpc>
              <a:spcAft>
                <a:spcPts val="200"/>
              </a:spcAft>
              <a:buNone/>
            </a:pPr>
            <a:endParaRPr lang="en-US" sz="2400" dirty="0" smtClean="0"/>
          </a:p>
          <a:p>
            <a:pPr marL="6350" lvl="2" indent="0">
              <a:lnSpc>
                <a:spcPct val="100000"/>
              </a:lnSpc>
              <a:spcAft>
                <a:spcPts val="200"/>
              </a:spcAft>
              <a:buNone/>
            </a:pPr>
            <a:endParaRPr lang="en-US" sz="2400" dirty="0"/>
          </a:p>
          <a:p>
            <a:pPr marL="6350" lvl="2" indent="0">
              <a:lnSpc>
                <a:spcPct val="100000"/>
              </a:lnSpc>
              <a:spcAft>
                <a:spcPts val="200"/>
              </a:spcAft>
              <a:buNone/>
            </a:pPr>
            <a:endParaRPr lang="en-US" sz="2400" dirty="0" smtClean="0"/>
          </a:p>
          <a:p>
            <a:pPr marL="6350" lvl="2" indent="0">
              <a:lnSpc>
                <a:spcPct val="100000"/>
              </a:lnSpc>
              <a:spcAft>
                <a:spcPts val="200"/>
              </a:spcAft>
              <a:buNone/>
            </a:pPr>
            <a:endParaRPr lang="en-US" sz="2400" dirty="0"/>
          </a:p>
          <a:p>
            <a:pPr marL="6350" lvl="2" indent="0">
              <a:lnSpc>
                <a:spcPct val="100000"/>
              </a:lnSpc>
              <a:spcAft>
                <a:spcPts val="200"/>
              </a:spcAft>
              <a:buNone/>
            </a:pPr>
            <a:endParaRPr lang="en-US" sz="2400" dirty="0" smtClean="0"/>
          </a:p>
          <a:p>
            <a:pPr marL="6350" lvl="2" indent="0">
              <a:lnSpc>
                <a:spcPct val="100000"/>
              </a:lnSpc>
              <a:spcAft>
                <a:spcPts val="200"/>
              </a:spcAft>
              <a:buNone/>
            </a:pPr>
            <a:endParaRPr lang="en-US" sz="2400" dirty="0"/>
          </a:p>
          <a:p>
            <a:pPr marL="6350" lvl="2" indent="0">
              <a:lnSpc>
                <a:spcPct val="100000"/>
              </a:lnSpc>
              <a:buNone/>
            </a:pPr>
            <a:endParaRPr lang="en-US" sz="2600" dirty="0"/>
          </a:p>
        </p:txBody>
      </p:sp>
      <p:sp>
        <p:nvSpPr>
          <p:cNvPr id="8" name="Content Placeholder 4"/>
          <p:cNvSpPr>
            <a:spLocks noGrp="1"/>
          </p:cNvSpPr>
          <p:nvPr>
            <p:ph idx="1"/>
          </p:nvPr>
        </p:nvSpPr>
        <p:spPr>
          <a:xfrm>
            <a:off x="453428" y="1261859"/>
            <a:ext cx="7886700" cy="5094491"/>
          </a:xfrm>
        </p:spPr>
        <p:txBody>
          <a:bodyPr>
            <a:noAutofit/>
          </a:bodyPr>
          <a:lstStyle/>
          <a:p>
            <a:pPr marL="6350" lvl="2" indent="0">
              <a:buNone/>
            </a:pPr>
            <a:r>
              <a:rPr lang="en-US" sz="2800" b="1" dirty="0" smtClean="0"/>
              <a:t>Descriptions</a:t>
            </a:r>
          </a:p>
          <a:p>
            <a:pPr marL="6350" lvl="2" indent="0">
              <a:buNone/>
            </a:pPr>
            <a:endParaRPr lang="en-US" sz="2400" dirty="0"/>
          </a:p>
          <a:p>
            <a:pPr marL="6350" lvl="2" indent="0">
              <a:buNone/>
            </a:pPr>
            <a:endParaRPr lang="en-US" sz="2400" dirty="0"/>
          </a:p>
          <a:p>
            <a:pPr marL="6350" lvl="2" indent="0">
              <a:buNone/>
            </a:pPr>
            <a:endParaRPr lang="en-US" sz="2400" dirty="0"/>
          </a:p>
          <a:p>
            <a:pPr marL="6350" lvl="2" indent="0">
              <a:buNone/>
            </a:pPr>
            <a:endParaRPr lang="en-US" sz="2400" dirty="0"/>
          </a:p>
          <a:p>
            <a:pPr marL="6350" lvl="2" indent="0">
              <a:buNone/>
            </a:pPr>
            <a:endParaRPr lang="en-US" sz="2400" dirty="0"/>
          </a:p>
          <a:p>
            <a:pPr marL="6350" lvl="2" indent="0">
              <a:buNone/>
            </a:pPr>
            <a:endParaRPr lang="en-US" sz="2400" dirty="0"/>
          </a:p>
          <a:p>
            <a:pPr marL="6350" lvl="2" indent="0">
              <a:buNone/>
            </a:pPr>
            <a:endParaRPr lang="en-US" sz="2400" dirty="0"/>
          </a:p>
          <a:p>
            <a:pPr marL="6350" lvl="2" indent="0">
              <a:buNone/>
            </a:pPr>
            <a:endParaRPr lang="en-US" sz="2400" dirty="0"/>
          </a:p>
        </p:txBody>
      </p:sp>
      <p:graphicFrame>
        <p:nvGraphicFramePr>
          <p:cNvPr id="7" name="Table 6"/>
          <p:cNvGraphicFramePr>
            <a:graphicFrameLocks noGrp="1"/>
          </p:cNvGraphicFramePr>
          <p:nvPr>
            <p:extLst/>
          </p:nvPr>
        </p:nvGraphicFramePr>
        <p:xfrm>
          <a:off x="479834" y="1895574"/>
          <a:ext cx="8206966" cy="3596640"/>
        </p:xfrm>
        <a:graphic>
          <a:graphicData uri="http://schemas.openxmlformats.org/drawingml/2006/table">
            <a:tbl>
              <a:tblPr firstRow="1" bandRow="1">
                <a:tableStyleId>{00A15C55-8517-42AA-B614-E9B94910E393}</a:tableStyleId>
              </a:tblPr>
              <a:tblGrid>
                <a:gridCol w="2070226">
                  <a:extLst>
                    <a:ext uri="{9D8B030D-6E8A-4147-A177-3AD203B41FA5}">
                      <a16:colId xmlns:a16="http://schemas.microsoft.com/office/drawing/2014/main" val="20000"/>
                    </a:ext>
                  </a:extLst>
                </a:gridCol>
                <a:gridCol w="6136740">
                  <a:extLst>
                    <a:ext uri="{9D8B030D-6E8A-4147-A177-3AD203B41FA5}">
                      <a16:colId xmlns:a16="http://schemas.microsoft.com/office/drawing/2014/main" val="20001"/>
                    </a:ext>
                  </a:extLst>
                </a:gridCol>
              </a:tblGrid>
              <a:tr h="335280">
                <a:tc>
                  <a:txBody>
                    <a:bodyPr/>
                    <a:lstStyle/>
                    <a:p>
                      <a:pPr algn="ctr"/>
                      <a:r>
                        <a:rPr lang="en-US" sz="1600" dirty="0" smtClean="0"/>
                        <a:t>Factors (Same for All)</a:t>
                      </a:r>
                      <a:endParaRPr lang="en-US" sz="1600" dirty="0"/>
                    </a:p>
                  </a:txBody>
                  <a:tcPr anchor="ctr">
                    <a:solidFill>
                      <a:srgbClr val="7030A0"/>
                    </a:solidFill>
                  </a:tcPr>
                </a:tc>
                <a:tc>
                  <a:txBody>
                    <a:bodyPr/>
                    <a:lstStyle/>
                    <a:p>
                      <a:pPr algn="ctr"/>
                      <a:r>
                        <a:rPr lang="en-US" sz="1600" dirty="0" smtClean="0"/>
                        <a:t>Factor Descriptions (Same for All)</a:t>
                      </a:r>
                      <a:endParaRPr lang="en-US" sz="1600" dirty="0"/>
                    </a:p>
                  </a:txBody>
                  <a:tcPr anchor="ctr">
                    <a:solidFill>
                      <a:srgbClr val="7030A0"/>
                    </a:solidFill>
                  </a:tcPr>
                </a:tc>
                <a:extLst>
                  <a:ext uri="{0D108BD9-81ED-4DB2-BD59-A6C34878D82A}">
                    <a16:rowId xmlns:a16="http://schemas.microsoft.com/office/drawing/2014/main" val="10000"/>
                  </a:ext>
                </a:extLst>
              </a:tr>
              <a:tr h="498904">
                <a:tc>
                  <a:txBody>
                    <a:bodyPr/>
                    <a:lstStyle/>
                    <a:p>
                      <a:r>
                        <a:rPr lang="en-US" sz="1400" b="1" dirty="0" smtClean="0"/>
                        <a:t>Job Achievement</a:t>
                      </a:r>
                      <a:r>
                        <a:rPr lang="en-US" sz="1400" b="1" baseline="0" dirty="0" smtClean="0"/>
                        <a:t> and/or Innovation</a:t>
                      </a:r>
                      <a:endParaRPr lang="en-US" sz="1400" b="1" dirty="0"/>
                    </a:p>
                  </a:txBody>
                  <a:tcPr anchor="ctr"/>
                </a:tc>
                <a:tc>
                  <a:txBody>
                    <a:bodyPr/>
                    <a:lstStyle/>
                    <a:p>
                      <a:pPr>
                        <a:buNone/>
                      </a:pPr>
                      <a:r>
                        <a:rPr lang="en-US" sz="1400" b="1" dirty="0" smtClean="0"/>
                        <a:t>This factor captures qualification, critical thinking,</a:t>
                      </a:r>
                      <a:r>
                        <a:rPr lang="en-US" sz="1400" b="1" baseline="0" dirty="0" smtClean="0"/>
                        <a:t> calculated risks, problem solving, leadership, supervision, and personal accountability aspects appropriate for the position classified to the broadband levels of the (NH/NJ/NK) career path.</a:t>
                      </a:r>
                      <a:endParaRPr lang="en-US" sz="1400" b="1" dirty="0" smtClean="0"/>
                    </a:p>
                  </a:txBody>
                  <a:tcPr anchor="ctr"/>
                </a:tc>
                <a:extLst>
                  <a:ext uri="{0D108BD9-81ED-4DB2-BD59-A6C34878D82A}">
                    <a16:rowId xmlns:a16="http://schemas.microsoft.com/office/drawing/2014/main" val="10001"/>
                  </a:ext>
                </a:extLst>
              </a:tr>
              <a:tr h="426308">
                <a:tc>
                  <a:txBody>
                    <a:bodyPr/>
                    <a:lstStyle/>
                    <a:p>
                      <a:r>
                        <a:rPr lang="en-US" sz="1400" b="1" dirty="0" smtClean="0"/>
                        <a:t>Communication</a:t>
                      </a:r>
                      <a:r>
                        <a:rPr lang="en-US" sz="1400" b="1" baseline="0" dirty="0" smtClean="0"/>
                        <a:t> and/or Teamwork</a:t>
                      </a:r>
                      <a:endParaRPr lang="en-US" sz="1400" b="1" dirty="0"/>
                    </a:p>
                  </a:txBody>
                  <a:tcPr anchor="ctr"/>
                </a:tc>
                <a:tc>
                  <a:txBody>
                    <a:bodyPr/>
                    <a:lstStyle/>
                    <a:p>
                      <a:pPr>
                        <a:buNone/>
                      </a:pPr>
                      <a:r>
                        <a:rPr lang="en-US" sz="1400" b="1" dirty="0" smtClean="0"/>
                        <a:t>This factor captures communication,</a:t>
                      </a:r>
                      <a:r>
                        <a:rPr lang="en-US" sz="1400" b="1" baseline="0" dirty="0" smtClean="0"/>
                        <a:t> both verbal and written: interactions with customers, coworkers, and groups; and assignments crossing functional boundaries appropriate for the positions classified to the broadband levels of the (NH/NK/NJ) career path.</a:t>
                      </a:r>
                      <a:endParaRPr lang="en-US" sz="1400" b="1" dirty="0" smtClean="0"/>
                    </a:p>
                  </a:txBody>
                  <a:tcPr anchor="ctr"/>
                </a:tc>
                <a:extLst>
                  <a:ext uri="{0D108BD9-81ED-4DB2-BD59-A6C34878D82A}">
                    <a16:rowId xmlns:a16="http://schemas.microsoft.com/office/drawing/2014/main" val="10002"/>
                  </a:ext>
                </a:extLst>
              </a:tr>
              <a:tr h="767355">
                <a:tc>
                  <a:txBody>
                    <a:bodyPr/>
                    <a:lstStyle/>
                    <a:p>
                      <a:r>
                        <a:rPr lang="en-US" sz="1400" b="1" dirty="0" smtClean="0"/>
                        <a:t>Mission</a:t>
                      </a:r>
                      <a:r>
                        <a:rPr lang="en-US" sz="1400" b="1" baseline="0" dirty="0" smtClean="0"/>
                        <a:t> Support</a:t>
                      </a:r>
                      <a:endParaRPr lang="en-US" sz="1400" b="1" dirty="0"/>
                    </a:p>
                  </a:txBody>
                  <a:tcPr anchor="ctr"/>
                </a:tc>
                <a:tc>
                  <a:txBody>
                    <a:bodyPr/>
                    <a:lstStyle/>
                    <a:p>
                      <a:pPr>
                        <a:buNone/>
                      </a:pPr>
                      <a:r>
                        <a:rPr lang="en-US" sz="1400" b="1" dirty="0" smtClean="0"/>
                        <a:t>This factor captures understanding and execution of organizational goals and priorities; working with customers to develop a mutual understanding of their requirements; monitoring and influencing cost parameters or work, tasks, and projects; and establishing priorities that reflect mission and organizational goals appropriate for the positions classified to the broadband levels of the (NH/NJ/NK) career path.</a:t>
                      </a:r>
                    </a:p>
                  </a:txBody>
                  <a:tcPr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17239809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0"/>
            <a:ext cx="7162800" cy="1143000"/>
          </a:xfrm>
        </p:spPr>
        <p:txBody>
          <a:bodyPr>
            <a:noAutofit/>
          </a:bodyPr>
          <a:lstStyle/>
          <a:p>
            <a:pPr algn="r"/>
            <a:r>
              <a:rPr lang="en-US" sz="3600" b="1" dirty="0" smtClean="0"/>
              <a:t>Factors Review</a:t>
            </a:r>
            <a:endParaRPr lang="en-US" sz="3600" b="1" dirty="0"/>
          </a:p>
        </p:txBody>
      </p:sp>
      <p:sp>
        <p:nvSpPr>
          <p:cNvPr id="6" name="Slide Number Placeholder 5"/>
          <p:cNvSpPr>
            <a:spLocks noGrp="1"/>
          </p:cNvSpPr>
          <p:nvPr>
            <p:ph type="sldNum" sz="quarter" idx="10"/>
          </p:nvPr>
        </p:nvSpPr>
        <p:spPr/>
        <p:txBody>
          <a:bodyPr/>
          <a:lstStyle/>
          <a:p>
            <a:fld id="{6182B678-6FDD-40D4-940F-81891D604945}" type="slidenum">
              <a:rPr lang="en-US" smtClean="0"/>
              <a:pPr/>
              <a:t>21</a:t>
            </a:fld>
            <a:endParaRPr lang="en-US" dirty="0"/>
          </a:p>
        </p:txBody>
      </p:sp>
      <p:sp>
        <p:nvSpPr>
          <p:cNvPr id="7" name="Content Placeholder 2"/>
          <p:cNvSpPr>
            <a:spLocks noGrp="1"/>
          </p:cNvSpPr>
          <p:nvPr>
            <p:ph sz="half" idx="1"/>
          </p:nvPr>
        </p:nvSpPr>
        <p:spPr>
          <a:xfrm>
            <a:off x="445508" y="1090943"/>
            <a:ext cx="8516901" cy="3992562"/>
          </a:xfrm>
        </p:spPr>
        <p:txBody>
          <a:bodyPr>
            <a:noAutofit/>
          </a:bodyPr>
          <a:lstStyle/>
          <a:p>
            <a:pPr marL="0" indent="0">
              <a:buNone/>
            </a:pPr>
            <a:r>
              <a:rPr lang="en-US" b="1" dirty="0" smtClean="0"/>
              <a:t>Sample Factor Structure</a:t>
            </a:r>
            <a:endParaRPr lang="en-US" dirty="0"/>
          </a:p>
          <a:p>
            <a:pPr marL="0" indent="0">
              <a:buNone/>
            </a:pPr>
            <a:endParaRPr lang="en-US" b="1" dirty="0" smtClean="0"/>
          </a:p>
          <a:p>
            <a:pPr marL="0" indent="0">
              <a:buNone/>
            </a:pPr>
            <a:endParaRPr lang="en-US" b="1" dirty="0"/>
          </a:p>
          <a:p>
            <a:pPr marL="0" indent="0">
              <a:buNone/>
            </a:pPr>
            <a:endParaRPr lang="en-US" b="1" dirty="0" smtClean="0"/>
          </a:p>
          <a:p>
            <a:pPr>
              <a:buFont typeface="Wingdings" panose="05000000000000000000" pitchFamily="2" charset="2"/>
              <a:buChar char="§"/>
            </a:pPr>
            <a:endParaRPr lang="en-US" b="1" dirty="0" smtClean="0"/>
          </a:p>
          <a:p>
            <a:pPr lvl="1"/>
            <a:endParaRPr lang="en-US" sz="1800" b="1" dirty="0"/>
          </a:p>
        </p:txBody>
      </p:sp>
      <p:cxnSp>
        <p:nvCxnSpPr>
          <p:cNvPr id="9" name="Straight Connector 8"/>
          <p:cNvCxnSpPr/>
          <p:nvPr/>
        </p:nvCxnSpPr>
        <p:spPr>
          <a:xfrm flipH="1">
            <a:off x="533401" y="3197272"/>
            <a:ext cx="7749015"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2" name="Straight Connector 11"/>
          <p:cNvCxnSpPr/>
          <p:nvPr/>
        </p:nvCxnSpPr>
        <p:spPr>
          <a:xfrm>
            <a:off x="533400" y="6538912"/>
            <a:ext cx="7749016" cy="0"/>
          </a:xfrm>
          <a:prstGeom prst="line">
            <a:avLst/>
          </a:prstGeom>
          <a:ln w="12700"/>
        </p:spPr>
        <p:style>
          <a:lnRef idx="1">
            <a:schemeClr val="dk1"/>
          </a:lnRef>
          <a:fillRef idx="0">
            <a:schemeClr val="dk1"/>
          </a:fillRef>
          <a:effectRef idx="0">
            <a:schemeClr val="dk1"/>
          </a:effectRef>
          <a:fontRef idx="minor">
            <a:schemeClr val="tx1"/>
          </a:fontRef>
        </p:style>
      </p:cxnSp>
      <p:pic>
        <p:nvPicPr>
          <p:cNvPr id="8" name="Picture 7"/>
          <p:cNvPicPr>
            <a:picLocks noChangeAspect="1"/>
          </p:cNvPicPr>
          <p:nvPr/>
        </p:nvPicPr>
        <p:blipFill rotWithShape="1">
          <a:blip r:embed="rId3"/>
          <a:srcRect b="3313"/>
          <a:stretch/>
        </p:blipFill>
        <p:spPr>
          <a:xfrm>
            <a:off x="445508" y="1665464"/>
            <a:ext cx="7924800" cy="4911599"/>
          </a:xfrm>
          <a:prstGeom prst="rect">
            <a:avLst/>
          </a:prstGeom>
        </p:spPr>
      </p:pic>
      <p:sp>
        <p:nvSpPr>
          <p:cNvPr id="3" name="Oval 2"/>
          <p:cNvSpPr/>
          <p:nvPr/>
        </p:nvSpPr>
        <p:spPr>
          <a:xfrm>
            <a:off x="504356" y="3227434"/>
            <a:ext cx="1781644" cy="35396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201094" y="2267894"/>
            <a:ext cx="1066800" cy="38880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5082766" y="3227434"/>
            <a:ext cx="1066800" cy="304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6665730" y="3204761"/>
            <a:ext cx="1411469" cy="304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20193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250"/>
                                  </p:stCondLst>
                                  <p:childTnLst>
                                    <p:set>
                                      <p:cBhvr>
                                        <p:cTn id="9" dur="1" fill="hold">
                                          <p:stCondLst>
                                            <p:cond delay="0"/>
                                          </p:stCondLst>
                                        </p:cTn>
                                        <p:tgtEl>
                                          <p:spTgt spid="3"/>
                                        </p:tgtEl>
                                        <p:attrNameLst>
                                          <p:attrName>style.visibility</p:attrName>
                                        </p:attrNameLst>
                                      </p:cBhvr>
                                      <p:to>
                                        <p:strVal val="visible"/>
                                      </p:to>
                                    </p:set>
                                  </p:childTnLst>
                                </p:cTn>
                              </p:par>
                            </p:childTnLst>
                          </p:cTn>
                        </p:par>
                        <p:par>
                          <p:cTn id="10" fill="hold">
                            <p:stCondLst>
                              <p:cond delay="250"/>
                            </p:stCondLst>
                            <p:childTnLst>
                              <p:par>
                                <p:cTn id="11" presetID="1" presetClass="entr" presetSubtype="0" fill="hold" grpId="0" nodeType="afterEffect">
                                  <p:stCondLst>
                                    <p:cond delay="250"/>
                                  </p:stCondLst>
                                  <p:childTnLst>
                                    <p:set>
                                      <p:cBhvr>
                                        <p:cTn id="12" dur="1" fill="hold">
                                          <p:stCondLst>
                                            <p:cond delay="0"/>
                                          </p:stCondLst>
                                        </p:cTn>
                                        <p:tgtEl>
                                          <p:spTgt spid="11"/>
                                        </p:tgtEl>
                                        <p:attrNameLst>
                                          <p:attrName>style.visibility</p:attrName>
                                        </p:attrNameLst>
                                      </p:cBhvr>
                                      <p:to>
                                        <p:strVal val="visible"/>
                                      </p:to>
                                    </p:set>
                                  </p:childTnLst>
                                </p:cTn>
                              </p:par>
                            </p:childTnLst>
                          </p:cTn>
                        </p:par>
                        <p:par>
                          <p:cTn id="13" fill="hold">
                            <p:stCondLst>
                              <p:cond delay="500"/>
                            </p:stCondLst>
                            <p:childTnLst>
                              <p:par>
                                <p:cTn id="14" presetID="1" presetClass="entr" presetSubtype="0" fill="hold" grpId="0" nodeType="afterEffect">
                                  <p:stCondLst>
                                    <p:cond delay="250"/>
                                  </p:stCondLst>
                                  <p:childTnLst>
                                    <p:set>
                                      <p:cBhvr>
                                        <p:cTn id="15"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P spid="11" grpId="0" animBg="1"/>
      <p:bldP spid="1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685800" y="2130425"/>
            <a:ext cx="7772400" cy="1470025"/>
          </a:xfrm>
          <a:prstGeom prst="rect">
            <a:avLst/>
          </a:prstGeom>
        </p:spPr>
        <p:txBody>
          <a:bodyPr>
            <a:noAutofit/>
          </a:bodyPr>
          <a:lstStyle/>
          <a:p>
            <a:r>
              <a:rPr lang="en-US" b="1" i="1" dirty="0" smtClean="0">
                <a:solidFill>
                  <a:srgbClr val="7030A0"/>
                </a:solidFill>
                <a:effectLst>
                  <a:outerShdw blurRad="38100" dist="38100" dir="2700000" algn="tl">
                    <a:srgbClr val="000000">
                      <a:alpha val="43137"/>
                    </a:srgbClr>
                  </a:outerShdw>
                </a:effectLst>
              </a:rPr>
              <a:t>Supervisory</a:t>
            </a:r>
            <a:r>
              <a:rPr lang="en-US" sz="5400" b="1" i="1" dirty="0" smtClean="0">
                <a:solidFill>
                  <a:srgbClr val="7030A0"/>
                </a:solidFill>
                <a:effectLst>
                  <a:outerShdw blurRad="38100" dist="38100" dir="2700000" algn="tl">
                    <a:srgbClr val="000000">
                      <a:alpha val="43137"/>
                    </a:srgbClr>
                  </a:outerShdw>
                </a:effectLst>
              </a:rPr>
              <a:t> Assessments</a:t>
            </a:r>
            <a:r>
              <a:rPr lang="en-US" sz="4800" b="1" i="1" dirty="0" smtClean="0">
                <a:solidFill>
                  <a:srgbClr val="7030A0"/>
                </a:solidFill>
                <a:effectLst>
                  <a:outerShdw blurRad="38100" dist="38100" dir="2700000" algn="tl">
                    <a:srgbClr val="000000">
                      <a:alpha val="43137"/>
                    </a:srgbClr>
                  </a:outerShdw>
                </a:effectLst>
              </a:rPr>
              <a:t/>
            </a:r>
            <a:br>
              <a:rPr lang="en-US" sz="4800" b="1" i="1" dirty="0" smtClean="0">
                <a:solidFill>
                  <a:srgbClr val="7030A0"/>
                </a:solidFill>
                <a:effectLst>
                  <a:outerShdw blurRad="38100" dist="38100" dir="2700000" algn="tl">
                    <a:srgbClr val="000000">
                      <a:alpha val="43137"/>
                    </a:srgbClr>
                  </a:outerShdw>
                </a:effectLst>
              </a:rPr>
            </a:br>
            <a:r>
              <a:rPr lang="en-US" sz="4800" b="1" i="1" dirty="0">
                <a:solidFill>
                  <a:srgbClr val="7030A0"/>
                </a:solidFill>
                <a:effectLst>
                  <a:outerShdw blurRad="38100" dist="38100" dir="2700000" algn="tl">
                    <a:srgbClr val="000000">
                      <a:alpha val="43137"/>
                    </a:srgbClr>
                  </a:outerShdw>
                </a:effectLst>
              </a:rPr>
              <a:t/>
            </a:r>
            <a:br>
              <a:rPr lang="en-US" sz="4800" b="1" i="1" dirty="0">
                <a:solidFill>
                  <a:srgbClr val="7030A0"/>
                </a:solidFill>
                <a:effectLst>
                  <a:outerShdw blurRad="38100" dist="38100" dir="2700000" algn="tl">
                    <a:srgbClr val="000000">
                      <a:alpha val="43137"/>
                    </a:srgbClr>
                  </a:outerShdw>
                </a:effectLst>
              </a:rPr>
            </a:br>
            <a:r>
              <a:rPr lang="en-US" sz="4000" b="1" i="1" dirty="0" smtClean="0">
                <a:solidFill>
                  <a:srgbClr val="7030A0"/>
                </a:solidFill>
                <a:effectLst>
                  <a:outerShdw blurRad="38100" dist="38100" dir="2700000" algn="tl">
                    <a:srgbClr val="000000">
                      <a:alpha val="43137"/>
                    </a:srgbClr>
                  </a:outerShdw>
                </a:effectLst>
              </a:rPr>
              <a:t>(Mid-Point and Annual)</a:t>
            </a:r>
            <a:r>
              <a:rPr lang="en-US" sz="5400" b="1" i="1" dirty="0">
                <a:solidFill>
                  <a:srgbClr val="7030A0"/>
                </a:solidFill>
                <a:effectLst>
                  <a:outerShdw blurRad="38100" dist="38100" dir="2700000" algn="tl">
                    <a:srgbClr val="000000">
                      <a:alpha val="43137"/>
                    </a:srgbClr>
                  </a:outerShdw>
                </a:effectLst>
              </a:rPr>
              <a:t/>
            </a:r>
            <a:br>
              <a:rPr lang="en-US" sz="5400" b="1" i="1" dirty="0">
                <a:solidFill>
                  <a:srgbClr val="7030A0"/>
                </a:solidFill>
                <a:effectLst>
                  <a:outerShdw blurRad="38100" dist="38100" dir="2700000" algn="tl">
                    <a:srgbClr val="000000">
                      <a:alpha val="43137"/>
                    </a:srgbClr>
                  </a:outerShdw>
                </a:effectLst>
              </a:rPr>
            </a:br>
            <a:endParaRPr lang="en-US" sz="5400" b="1" i="1" dirty="0">
              <a:solidFill>
                <a:srgbClr val="7030A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08792386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a:xfrm>
            <a:off x="1866900" y="152400"/>
            <a:ext cx="6819900" cy="611187"/>
          </a:xfrm>
          <a:prstGeom prst="rect">
            <a:avLst/>
          </a:prstGeom>
        </p:spPr>
        <p:txBody>
          <a:bodyPr>
            <a:noAutofit/>
          </a:bodyPr>
          <a:lstStyle/>
          <a:p>
            <a:pPr algn="r"/>
            <a:r>
              <a:rPr lang="en-US" sz="3600" b="1" i="1" dirty="0" smtClean="0">
                <a:solidFill>
                  <a:srgbClr val="7030A0"/>
                </a:solidFill>
                <a:effectLst>
                  <a:outerShdw blurRad="38100" dist="38100" dir="2700000" algn="tl">
                    <a:srgbClr val="000000">
                      <a:alpha val="43137"/>
                    </a:srgbClr>
                  </a:outerShdw>
                </a:effectLst>
              </a:rPr>
              <a:t>Supervisory Assessment</a:t>
            </a:r>
            <a:br>
              <a:rPr lang="en-US" sz="3600" b="1" i="1" dirty="0" smtClean="0">
                <a:solidFill>
                  <a:srgbClr val="7030A0"/>
                </a:solidFill>
                <a:effectLst>
                  <a:outerShdw blurRad="38100" dist="38100" dir="2700000" algn="tl">
                    <a:srgbClr val="000000">
                      <a:alpha val="43137"/>
                    </a:srgbClr>
                  </a:outerShdw>
                </a:effectLst>
              </a:rPr>
            </a:br>
            <a:r>
              <a:rPr lang="en-US" sz="3600" b="1" i="1" dirty="0" smtClean="0">
                <a:solidFill>
                  <a:srgbClr val="7030A0"/>
                </a:solidFill>
                <a:effectLst>
                  <a:outerShdw blurRad="38100" dist="38100" dir="2700000" algn="tl">
                    <a:srgbClr val="000000">
                      <a:alpha val="43137"/>
                    </a:srgbClr>
                  </a:outerShdw>
                </a:effectLst>
              </a:rPr>
              <a:t>Mid-Point</a:t>
            </a:r>
          </a:p>
        </p:txBody>
      </p:sp>
      <p:sp>
        <p:nvSpPr>
          <p:cNvPr id="39940" name="Rectangle 3"/>
          <p:cNvSpPr>
            <a:spLocks noGrp="1" noChangeArrowheads="1"/>
          </p:cNvSpPr>
          <p:nvPr>
            <p:ph type="body" idx="1"/>
          </p:nvPr>
        </p:nvSpPr>
        <p:spPr>
          <a:xfrm>
            <a:off x="457200" y="1295400"/>
            <a:ext cx="8229600" cy="4970463"/>
          </a:xfrm>
        </p:spPr>
        <p:txBody>
          <a:bodyPr>
            <a:normAutofit fontScale="92500" lnSpcReduction="10000"/>
          </a:bodyPr>
          <a:lstStyle/>
          <a:p>
            <a:pPr>
              <a:buFont typeface="Wingdings" panose="05000000000000000000" pitchFamily="2" charset="2"/>
              <a:buChar char="§"/>
            </a:pPr>
            <a:r>
              <a:rPr lang="en-US" sz="2600" b="1" dirty="0" smtClean="0">
                <a:solidFill>
                  <a:srgbClr val="FF0000"/>
                </a:solidFill>
              </a:rPr>
              <a:t>There should be no surprises to the employee at the end of the year</a:t>
            </a:r>
          </a:p>
          <a:p>
            <a:pPr>
              <a:buFont typeface="Wingdings" panose="05000000000000000000" pitchFamily="2" charset="2"/>
              <a:buChar char="§"/>
            </a:pPr>
            <a:r>
              <a:rPr lang="en-US" sz="2600" b="1" dirty="0" smtClean="0"/>
              <a:t>Provide constructive feedback</a:t>
            </a:r>
          </a:p>
          <a:p>
            <a:pPr>
              <a:buFont typeface="Wingdings" panose="05000000000000000000" pitchFamily="2" charset="2"/>
              <a:buChar char="§"/>
            </a:pPr>
            <a:r>
              <a:rPr lang="en-US" sz="2600" b="1" dirty="0" smtClean="0"/>
              <a:t>Is the employee on-track to meet or exceed goals</a:t>
            </a:r>
          </a:p>
          <a:p>
            <a:pPr>
              <a:buFont typeface="Wingdings" panose="05000000000000000000" pitchFamily="2" charset="2"/>
              <a:buChar char="§"/>
            </a:pPr>
            <a:r>
              <a:rPr lang="en-US" sz="2600" b="1" dirty="0"/>
              <a:t>Do not copy/paste members comments</a:t>
            </a:r>
          </a:p>
          <a:p>
            <a:pPr>
              <a:buFont typeface="Wingdings" panose="05000000000000000000" pitchFamily="2" charset="2"/>
              <a:buChar char="§"/>
            </a:pPr>
            <a:r>
              <a:rPr lang="en-US" sz="2600" b="1" dirty="0">
                <a:solidFill>
                  <a:srgbClr val="FF0000"/>
                </a:solidFill>
              </a:rPr>
              <a:t>Expand on the employees individual factor self assessments as well as include significant contributions that the employee may have forgotten to provide</a:t>
            </a:r>
          </a:p>
          <a:p>
            <a:pPr>
              <a:buFont typeface="Wingdings" panose="05000000000000000000" pitchFamily="2" charset="2"/>
              <a:buChar char="§"/>
            </a:pPr>
            <a:r>
              <a:rPr lang="en-US" sz="2600" b="1" dirty="0"/>
              <a:t>Base comments on contributions and results obtained by the employee during the rating period and not on the employee’s personality characteristics</a:t>
            </a:r>
          </a:p>
          <a:p>
            <a:pPr>
              <a:buFont typeface="Wingdings" panose="05000000000000000000" pitchFamily="2" charset="2"/>
              <a:buChar char="§"/>
            </a:pPr>
            <a:r>
              <a:rPr lang="en-US" sz="2600" b="1" dirty="0"/>
              <a:t>Identify areas for performance enhancement and to help promote professional growth or if there are any issues</a:t>
            </a:r>
          </a:p>
          <a:p>
            <a:pPr>
              <a:buFont typeface="Wingdings" panose="05000000000000000000" pitchFamily="2" charset="2"/>
              <a:buChar char="§"/>
            </a:pPr>
            <a:endParaRPr lang="en-US" sz="2500" b="1" dirty="0" smtClean="0"/>
          </a:p>
          <a:p>
            <a:endParaRPr lang="en-US" sz="2500" dirty="0" smtClean="0"/>
          </a:p>
          <a:p>
            <a:pPr lvl="2">
              <a:buFontTx/>
              <a:buChar char="-"/>
            </a:pPr>
            <a:endParaRPr lang="en-US" sz="2600" dirty="0"/>
          </a:p>
          <a:p>
            <a:pPr lvl="1">
              <a:buFontTx/>
              <a:buChar char="-"/>
            </a:pPr>
            <a:endParaRPr lang="en-US" sz="2000" dirty="0" smtClean="0"/>
          </a:p>
          <a:p>
            <a:pPr lvl="1"/>
            <a:endParaRPr lang="en-US" sz="2000" dirty="0" smtClean="0"/>
          </a:p>
        </p:txBody>
      </p:sp>
      <p:sp>
        <p:nvSpPr>
          <p:cNvPr id="3" name="Slide Number Placeholder 2"/>
          <p:cNvSpPr>
            <a:spLocks noGrp="1"/>
          </p:cNvSpPr>
          <p:nvPr>
            <p:ph type="sldNum" sz="quarter" idx="10"/>
          </p:nvPr>
        </p:nvSpPr>
        <p:spPr/>
        <p:txBody>
          <a:bodyPr/>
          <a:lstStyle/>
          <a:p>
            <a:fld id="{6182B678-6FDD-40D4-940F-81891D604945}" type="slidenum">
              <a:rPr lang="en-US" smtClean="0"/>
              <a:pPr/>
              <a:t>23</a:t>
            </a:fld>
            <a:endParaRPr lang="en-US" dirty="0"/>
          </a:p>
        </p:txBody>
      </p:sp>
    </p:spTree>
    <p:extLst>
      <p:ext uri="{BB962C8B-B14F-4D97-AF65-F5344CB8AC3E}">
        <p14:creationId xmlns:p14="http://schemas.microsoft.com/office/powerpoint/2010/main" val="164238962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6AEAA376DF8F84DB7FD3E9A685B054F" ma:contentTypeVersion="12" ma:contentTypeDescription="Create a new document." ma:contentTypeScope="" ma:versionID="0ea367ebd35a6a91e7fe1717b7af529e">
  <xsd:schema xmlns:xsd="http://www.w3.org/2001/XMLSchema" xmlns:xs="http://www.w3.org/2001/XMLSchema" xmlns:p="http://schemas.microsoft.com/office/2006/metadata/properties" xmlns:ns1="http://schemas.microsoft.com/sharepoint/v3" xmlns:ns3="db9e066f-021a-4fd3-ba17-c91f369d57a9" xmlns:ns4="93dd6660-7dd1-4f69-af59-c6df57e747b8" targetNamespace="http://schemas.microsoft.com/office/2006/metadata/properties" ma:root="true" ma:fieldsID="e6c045e5492f229981aa30aef2976548" ns1:_="" ns3:_="" ns4:_="">
    <xsd:import namespace="http://schemas.microsoft.com/sharepoint/v3"/>
    <xsd:import namespace="db9e066f-021a-4fd3-ba17-c91f369d57a9"/>
    <xsd:import namespace="93dd6660-7dd1-4f69-af59-c6df57e747b8"/>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4:SharedWithUsers" minOccurs="0"/>
                <xsd:element ref="ns4:SharedWithDetails" minOccurs="0"/>
                <xsd:element ref="ns4:SharingHintHash" minOccurs="0"/>
                <xsd:element ref="ns1:_ip_UnifiedCompliancePolicyProperties" minOccurs="0"/>
                <xsd:element ref="ns1:_ip_UnifiedCompliancePolicyUIAction"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7" nillable="true" ma:displayName="Unified Compliance Policy Properties" ma:hidden="true" ma:internalName="_ip_UnifiedCompliancePolicyProperties">
      <xsd:simpleType>
        <xsd:restriction base="dms:Note"/>
      </xsd:simpleType>
    </xsd:element>
    <xsd:element name="_ip_UnifiedCompliancePolicyUIAction" ma:index="1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b9e066f-021a-4fd3-ba17-c91f369d57a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3dd6660-7dd1-4f69-af59-c6df57e747b8"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SharingHintHash" ma:index="16"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54DAC9DD-20AC-4716-B6D2-741725584C1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b9e066f-021a-4fd3-ba17-c91f369d57a9"/>
    <ds:schemaRef ds:uri="93dd6660-7dd1-4f69-af59-c6df57e747b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5F9188F-DC0F-47F5-9C13-DBC219C2A4D6}">
  <ds:schemaRefs>
    <ds:schemaRef ds:uri="http://schemas.microsoft.com/sharepoint/v3/contenttype/forms"/>
  </ds:schemaRefs>
</ds:datastoreItem>
</file>

<file path=customXml/itemProps3.xml><?xml version="1.0" encoding="utf-8"?>
<ds:datastoreItem xmlns:ds="http://schemas.openxmlformats.org/officeDocument/2006/customXml" ds:itemID="{9D355C9F-6011-417E-B175-9C4205DA3E56}">
  <ds:schemaRefs>
    <ds:schemaRef ds:uri="http://purl.org/dc/elements/1.1/"/>
    <ds:schemaRef ds:uri="http://schemas.microsoft.com/office/2006/metadata/properties"/>
    <ds:schemaRef ds:uri="http://schemas.openxmlformats.org/package/2006/metadata/core-properties"/>
    <ds:schemaRef ds:uri="http://schemas.microsoft.com/sharepoint/v3"/>
    <ds:schemaRef ds:uri="http://purl.org/dc/terms/"/>
    <ds:schemaRef ds:uri="http://schemas.microsoft.com/office/infopath/2007/PartnerControls"/>
    <ds:schemaRef ds:uri="http://schemas.microsoft.com/office/2006/documentManagement/types"/>
    <ds:schemaRef ds:uri="93dd6660-7dd1-4f69-af59-c6df57e747b8"/>
    <ds:schemaRef ds:uri="db9e066f-021a-4fd3-ba17-c91f369d57a9"/>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23540</TotalTime>
  <Words>1944</Words>
  <Application>Microsoft Office PowerPoint</Application>
  <PresentationFormat>On-screen Show (4:3)</PresentationFormat>
  <Paragraphs>240</Paragraphs>
  <Slides>23</Slides>
  <Notes>22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Calibri</vt:lpstr>
      <vt:lpstr>Tahoma</vt:lpstr>
      <vt:lpstr>Webdings</vt:lpstr>
      <vt:lpstr>Wingdings</vt:lpstr>
      <vt:lpstr>Wingdings 2</vt:lpstr>
      <vt:lpstr>Office Theme</vt:lpstr>
      <vt:lpstr>Mid-Point Review</vt:lpstr>
      <vt:lpstr>Required Mid-Point Review Mar/Apr</vt:lpstr>
      <vt:lpstr>Writing a CCAS Assessments for Mid-Point, Closeout and Annual Appraisals </vt:lpstr>
      <vt:lpstr>Employee and Supervisor Assessments</vt:lpstr>
      <vt:lpstr>Capturing Contributions throughout the year</vt:lpstr>
      <vt:lpstr>Preparing for the Self-Assessment</vt:lpstr>
      <vt:lpstr>What are Significant Accomplishments? </vt:lpstr>
      <vt:lpstr>Self-Assessments</vt:lpstr>
      <vt:lpstr>Self-Assessments (cont.) </vt:lpstr>
      <vt:lpstr>Writing A Self-Assessment</vt:lpstr>
      <vt:lpstr> Mandatory Self-Assessment Writing Method  (Mid-Point and Annual) </vt:lpstr>
      <vt:lpstr>Mandatory Self Assessment Writing Method</vt:lpstr>
      <vt:lpstr>Self-Assessment Writing Method</vt:lpstr>
      <vt:lpstr>Writing A Self-Assessment</vt:lpstr>
      <vt:lpstr>Effective W-R-I Examples NH-III </vt:lpstr>
      <vt:lpstr>W-R-I Example  NH-IV</vt:lpstr>
      <vt:lpstr>Writing A Self-Assessment</vt:lpstr>
      <vt:lpstr>Self-Assessment Summary</vt:lpstr>
      <vt:lpstr>Mid-Point Self Assessment</vt:lpstr>
      <vt:lpstr>Factors Review</vt:lpstr>
      <vt:lpstr>Factors Review</vt:lpstr>
      <vt:lpstr>Supervisory Assessments  (Mid-Point and Annual) </vt:lpstr>
      <vt:lpstr>Supervisory Assessment Mid-Point</vt:lpstr>
    </vt:vector>
  </TitlesOfParts>
  <Company>United States Army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CCAS</dc:title>
  <dc:creator>United States Army</dc:creator>
  <cp:lastModifiedBy>TAYLOR, KORTNEY E NH-04 USAF HAF SAF/FM</cp:lastModifiedBy>
  <cp:revision>880</cp:revision>
  <cp:lastPrinted>2018-03-13T17:28:19Z</cp:lastPrinted>
  <dcterms:created xsi:type="dcterms:W3CDTF">2013-05-14T18:01:19Z</dcterms:created>
  <dcterms:modified xsi:type="dcterms:W3CDTF">2022-03-11T17:59:19Z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0x010100B6AEAA376DF8F84DB7FD3E9A685B054F</vt:lpwstr>
  </property>
</Properties>
</file>